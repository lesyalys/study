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7"/>
  </p:notesMasterIdLst>
  <p:sldIdLst>
    <p:sldId id="256" r:id="rId2"/>
    <p:sldId id="347" r:id="rId3"/>
    <p:sldId id="348" r:id="rId4"/>
    <p:sldId id="349" r:id="rId5"/>
    <p:sldId id="350" r:id="rId6"/>
    <p:sldId id="351" r:id="rId7"/>
    <p:sldId id="352" r:id="rId8"/>
    <p:sldId id="353" r:id="rId9"/>
    <p:sldId id="354" r:id="rId10"/>
    <p:sldId id="355" r:id="rId11"/>
    <p:sldId id="356" r:id="rId12"/>
    <p:sldId id="357" r:id="rId13"/>
    <p:sldId id="358" r:id="rId14"/>
    <p:sldId id="359" r:id="rId15"/>
    <p:sldId id="360" r:id="rId16"/>
    <p:sldId id="361" r:id="rId17"/>
    <p:sldId id="362" r:id="rId18"/>
    <p:sldId id="363" r:id="rId19"/>
    <p:sldId id="364" r:id="rId20"/>
    <p:sldId id="321" r:id="rId21"/>
    <p:sldId id="322" r:id="rId22"/>
    <p:sldId id="323" r:id="rId23"/>
    <p:sldId id="324" r:id="rId24"/>
    <p:sldId id="325" r:id="rId25"/>
    <p:sldId id="326" r:id="rId26"/>
    <p:sldId id="327" r:id="rId27"/>
    <p:sldId id="328" r:id="rId28"/>
    <p:sldId id="329" r:id="rId29"/>
    <p:sldId id="365" r:id="rId30"/>
    <p:sldId id="366" r:id="rId31"/>
    <p:sldId id="367" r:id="rId32"/>
    <p:sldId id="368" r:id="rId33"/>
    <p:sldId id="369" r:id="rId34"/>
    <p:sldId id="370" r:id="rId35"/>
    <p:sldId id="371" r:id="rId36"/>
    <p:sldId id="372" r:id="rId37"/>
    <p:sldId id="373" r:id="rId38"/>
    <p:sldId id="374" r:id="rId39"/>
    <p:sldId id="375" r:id="rId40"/>
    <p:sldId id="376" r:id="rId41"/>
    <p:sldId id="377" r:id="rId42"/>
    <p:sldId id="378" r:id="rId43"/>
    <p:sldId id="379" r:id="rId44"/>
    <p:sldId id="380" r:id="rId45"/>
    <p:sldId id="381" r:id="rId46"/>
    <p:sldId id="382" r:id="rId47"/>
    <p:sldId id="383" r:id="rId48"/>
    <p:sldId id="384" r:id="rId49"/>
    <p:sldId id="385" r:id="rId50"/>
    <p:sldId id="386" r:id="rId51"/>
    <p:sldId id="387" r:id="rId52"/>
    <p:sldId id="388" r:id="rId53"/>
    <p:sldId id="389" r:id="rId54"/>
    <p:sldId id="390" r:id="rId55"/>
    <p:sldId id="391" r:id="rId56"/>
    <p:sldId id="330" r:id="rId57"/>
    <p:sldId id="331" r:id="rId58"/>
    <p:sldId id="332" r:id="rId59"/>
    <p:sldId id="333" r:id="rId60"/>
    <p:sldId id="335" r:id="rId61"/>
    <p:sldId id="334" r:id="rId62"/>
    <p:sldId id="392" r:id="rId63"/>
    <p:sldId id="393" r:id="rId64"/>
    <p:sldId id="394" r:id="rId65"/>
    <p:sldId id="395" r:id="rId66"/>
    <p:sldId id="396" r:id="rId67"/>
    <p:sldId id="398" r:id="rId68"/>
    <p:sldId id="397" r:id="rId69"/>
    <p:sldId id="399" r:id="rId70"/>
    <p:sldId id="400" r:id="rId71"/>
    <p:sldId id="401" r:id="rId72"/>
    <p:sldId id="402" r:id="rId73"/>
    <p:sldId id="403" r:id="rId74"/>
    <p:sldId id="404" r:id="rId75"/>
    <p:sldId id="405" r:id="rId76"/>
    <p:sldId id="406" r:id="rId77"/>
    <p:sldId id="407" r:id="rId78"/>
    <p:sldId id="408" r:id="rId79"/>
    <p:sldId id="409" r:id="rId80"/>
    <p:sldId id="410" r:id="rId81"/>
    <p:sldId id="411" r:id="rId82"/>
    <p:sldId id="412" r:id="rId83"/>
    <p:sldId id="413" r:id="rId84"/>
    <p:sldId id="414" r:id="rId85"/>
    <p:sldId id="415" r:id="rId86"/>
    <p:sldId id="416" r:id="rId87"/>
    <p:sldId id="417" r:id="rId88"/>
    <p:sldId id="418" r:id="rId89"/>
    <p:sldId id="419" r:id="rId90"/>
    <p:sldId id="420" r:id="rId91"/>
    <p:sldId id="421" r:id="rId92"/>
    <p:sldId id="422" r:id="rId93"/>
    <p:sldId id="423" r:id="rId94"/>
    <p:sldId id="424" r:id="rId95"/>
    <p:sldId id="297" r:id="rId96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16" autoAdjust="0"/>
    <p:restoredTop sz="94660"/>
  </p:normalViewPr>
  <p:slideViewPr>
    <p:cSldViewPr snapToGrid="0">
      <p:cViewPr>
        <p:scale>
          <a:sx n="75" d="100"/>
          <a:sy n="75" d="100"/>
        </p:scale>
        <p:origin x="126" y="82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viewProps" Target="viewProps.xml"/><Relationship Id="rId10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presProps" Target="presProps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174BB7-791E-4AB0-BAC2-C7E713657557}" type="datetimeFigureOut">
              <a:rPr lang="ru-RU" smtClean="0"/>
              <a:pPr/>
              <a:t>05.12.2022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A0EE1A-BB6F-4BF1-AB39-91E791237C46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231786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61982-0A1D-4E0C-AF78-17997B0ECE9F}" type="datetime1">
              <a:rPr lang="ru-RU" smtClean="0"/>
              <a:t>05.12.2022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smtClean="0"/>
              <a:t>Источник </a:t>
            </a:r>
            <a:r>
              <a:rPr lang="en-US" smtClean="0"/>
              <a:t>https://htmlacademy.ru/tutorial/php</a:t>
            </a: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8D0B5-0F50-4A33-BD61-F6410AEF5AE3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267087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1D3B7-64D1-4C6A-A40D-D3155A95F02C}" type="datetime1">
              <a:rPr lang="ru-RU" smtClean="0"/>
              <a:t>05.12.2022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smtClean="0"/>
              <a:t>Источник </a:t>
            </a:r>
            <a:r>
              <a:rPr lang="en-US" smtClean="0"/>
              <a:t>https://htmlacademy.ru/tutorial/php</a:t>
            </a: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8D0B5-0F50-4A33-BD61-F6410AEF5AE3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291491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DAB38-E4A8-44DF-89E1-AF0D7F5C2E8C}" type="datetime1">
              <a:rPr lang="ru-RU" smtClean="0"/>
              <a:t>05.12.2022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smtClean="0"/>
              <a:t>Источник </a:t>
            </a:r>
            <a:r>
              <a:rPr lang="en-US" smtClean="0"/>
              <a:t>https://htmlacademy.ru/tutorial/php</a:t>
            </a: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8D0B5-0F50-4A33-BD61-F6410AEF5AE3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000874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4933A8-F237-4FB8-9252-C22E609265D7}" type="datetime1">
              <a:rPr lang="ru-RU" smtClean="0"/>
              <a:t>05.12.2022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smtClean="0"/>
              <a:t>Источник </a:t>
            </a:r>
            <a:r>
              <a:rPr lang="en-US" smtClean="0"/>
              <a:t>https://htmlacademy.ru/tutorial/php</a:t>
            </a:r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8D0B5-0F50-4A33-BD61-F6410AEF5AE3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21636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09D350-1060-4256-8F45-13CDB7961426}" type="datetime1">
              <a:rPr lang="ru-RU" smtClean="0"/>
              <a:t>05.12.2022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smtClean="0"/>
              <a:t>Источник </a:t>
            </a:r>
            <a:r>
              <a:rPr lang="en-US" smtClean="0"/>
              <a:t>https://htmlacademy.ru/tutorial/php</a:t>
            </a:r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8D0B5-0F50-4A33-BD61-F6410AEF5AE3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248620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B9123-ACC1-4624-B1C1-1C509103DC39}" type="datetime1">
              <a:rPr lang="ru-RU" smtClean="0"/>
              <a:t>05.12.2022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smtClean="0"/>
              <a:t>Источник </a:t>
            </a:r>
            <a:r>
              <a:rPr lang="en-US" smtClean="0"/>
              <a:t>https://htmlacademy.ru/tutorial/php</a:t>
            </a:r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8D0B5-0F50-4A33-BD61-F6410AEF5AE3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442127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B5A2EF-96AB-4A77-B346-FBD934835751}" type="datetime1">
              <a:rPr lang="ru-RU" smtClean="0"/>
              <a:t>05.12.2022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smtClean="0"/>
              <a:t>Источник </a:t>
            </a:r>
            <a:r>
              <a:rPr lang="en-US" smtClean="0"/>
              <a:t>https://htmlacademy.ru/tutorial/php</a:t>
            </a:r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8D0B5-0F50-4A33-BD61-F6410AEF5AE3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955086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B459B-9AAB-4EDD-9882-88F8FEACCD7D}" type="datetime1">
              <a:rPr lang="ru-RU" smtClean="0"/>
              <a:t>05.12.2022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smtClean="0"/>
              <a:t>Источник </a:t>
            </a:r>
            <a:r>
              <a:rPr lang="en-US" smtClean="0"/>
              <a:t>https://htmlacademy.ru/tutorial/php</a:t>
            </a:r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8D0B5-0F50-4A33-BD61-F6410AEF5AE3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990146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F0D740-D028-44BD-8E25-64661BC04D63}" type="datetime1">
              <a:rPr lang="ru-RU" smtClean="0"/>
              <a:t>05.12.2022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smtClean="0"/>
              <a:t>Источник </a:t>
            </a:r>
            <a:r>
              <a:rPr lang="en-US" smtClean="0"/>
              <a:t>https://htmlacademy.ru/tutorial/php</a:t>
            </a:r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8D0B5-0F50-4A33-BD61-F6410AEF5AE3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756974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5A2F3-497A-4142-A352-BD9A3A3AA36B}" type="datetime1">
              <a:rPr lang="ru-RU" smtClean="0"/>
              <a:t>05.12.2022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smtClean="0"/>
              <a:t>Источник </a:t>
            </a:r>
            <a:r>
              <a:rPr lang="en-US" smtClean="0"/>
              <a:t>https://htmlacademy.ru/tutorial/php</a:t>
            </a: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8D0B5-0F50-4A33-BD61-F6410AEF5AE3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488688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744FB7-8FEA-45AF-B007-A6A57F3B9182}" type="datetime1">
              <a:rPr lang="ru-RU" smtClean="0"/>
              <a:t>05.12.2022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smtClean="0"/>
              <a:t>Источник </a:t>
            </a:r>
            <a:r>
              <a:rPr lang="en-US" smtClean="0"/>
              <a:t>https://htmlacademy.ru/tutorial/php</a:t>
            </a: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8D0B5-0F50-4A33-BD61-F6410AEF5AE3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064595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A67119-BBDE-4472-8FA9-88604C687D31}" type="datetime1">
              <a:rPr lang="ru-RU" smtClean="0"/>
              <a:t>05.12.2022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ru-RU" smtClean="0"/>
              <a:t>Источник </a:t>
            </a:r>
            <a:r>
              <a:rPr lang="en-US" smtClean="0"/>
              <a:t>https://htmlacademy.ru/tutorial/php</a:t>
            </a: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F8D0B5-0F50-4A33-BD61-F6410AEF5AE3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682811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://127.0.0.1/openserver/phpmyadmin/db_structure.php?server=1&amp;db=weather_diary&amp;token=ee5a7a27bcc25c6eafd6219958b68730" TargetMode="Externa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36879" y="1880316"/>
            <a:ext cx="9144000" cy="2601532"/>
          </a:xfrm>
        </p:spPr>
        <p:txBody>
          <a:bodyPr>
            <a:normAutofit/>
          </a:bodyPr>
          <a:lstStyle/>
          <a:p>
            <a:r>
              <a:rPr lang="ru-RU" b="1" dirty="0" smtClean="0">
                <a:latin typeface="+mn-lt"/>
              </a:rPr>
              <a:t>Язык </a:t>
            </a:r>
            <a:r>
              <a:rPr lang="en-US" b="1" dirty="0" smtClean="0">
                <a:latin typeface="+mn-lt"/>
              </a:rPr>
              <a:t>PHP.</a:t>
            </a:r>
            <a:br>
              <a:rPr lang="en-US" b="1" dirty="0" smtClean="0">
                <a:latin typeface="+mn-lt"/>
              </a:rPr>
            </a:br>
            <a:r>
              <a:rPr lang="en-US" b="1" dirty="0" err="1" smtClean="0">
                <a:latin typeface="+mn-lt"/>
              </a:rPr>
              <a:t>OpenServer</a:t>
            </a:r>
            <a:r>
              <a:rPr lang="en-US" b="1" dirty="0" smtClean="0">
                <a:latin typeface="+mn-lt"/>
              </a:rPr>
              <a:t>.</a:t>
            </a:r>
            <a:br>
              <a:rPr lang="en-US" b="1" dirty="0" smtClean="0">
                <a:latin typeface="+mn-lt"/>
              </a:rPr>
            </a:br>
            <a:r>
              <a:rPr lang="en-US" b="1" dirty="0" err="1" smtClean="0">
                <a:latin typeface="+mn-lt"/>
              </a:rPr>
              <a:t>MySQL</a:t>
            </a:r>
            <a:r>
              <a:rPr lang="en-US" b="1" dirty="0" smtClean="0">
                <a:latin typeface="+mn-lt"/>
              </a:rPr>
              <a:t>.</a:t>
            </a:r>
            <a:endParaRPr lang="ru-RU" b="1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3117502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566928" y="749808"/>
            <a:ext cx="11100816" cy="5669280"/>
          </a:xfrm>
        </p:spPr>
        <p:txBody>
          <a:bodyPr>
            <a:normAutofit/>
          </a:bodyPr>
          <a:lstStyle/>
          <a:p>
            <a:r>
              <a:rPr lang="ru-RU" sz="3600" b="1" dirty="0" smtClean="0"/>
              <a:t>Базы данных (БД)</a:t>
            </a:r>
          </a:p>
          <a:p>
            <a:pPr algn="l"/>
            <a:r>
              <a:rPr lang="ru-RU" sz="3600" dirty="0" smtClean="0"/>
              <a:t>СУБД — это программа, которая позволяет хранить и обрабатывать информацию в структурированном виде.</a:t>
            </a:r>
            <a:br>
              <a:rPr lang="ru-RU" sz="3600" dirty="0" smtClean="0"/>
            </a:br>
            <a:r>
              <a:rPr lang="ru-RU" sz="3600" dirty="0" smtClean="0"/>
              <a:t>СУБД это отдельная независимая программа, которая не входит в состав языка программирования. </a:t>
            </a:r>
          </a:p>
          <a:p>
            <a:pPr algn="l"/>
            <a:r>
              <a:rPr lang="ru-RU" sz="3600" dirty="0" smtClean="0"/>
              <a:t>В базе данных можно сохранять любую информацию, чтобы позже получать к ней доступ.</a:t>
            </a:r>
            <a:endParaRPr lang="ru-RU" sz="3600" b="1" dirty="0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smtClean="0"/>
              <a:t>Источник </a:t>
            </a:r>
            <a:r>
              <a:rPr lang="en-US" smtClean="0"/>
              <a:t>https://htmlacademy.ru/tutorial/php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506382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566928" y="749808"/>
            <a:ext cx="11100816" cy="5669280"/>
          </a:xfrm>
        </p:spPr>
        <p:txBody>
          <a:bodyPr>
            <a:normAutofit/>
          </a:bodyPr>
          <a:lstStyle/>
          <a:p>
            <a:pPr algn="l"/>
            <a:r>
              <a:rPr lang="ru-RU" sz="3600" dirty="0" smtClean="0"/>
              <a:t>В основе всей структуры хранения лежат три понятия:</a:t>
            </a:r>
          </a:p>
          <a:p>
            <a:pPr algn="l">
              <a:buFont typeface="Arial" pitchFamily="34" charset="0"/>
              <a:buChar char="•"/>
            </a:pPr>
            <a:r>
              <a:rPr lang="en-US" sz="3600" dirty="0" smtClean="0"/>
              <a:t> </a:t>
            </a:r>
            <a:r>
              <a:rPr lang="ru-RU" sz="3600" dirty="0" smtClean="0"/>
              <a:t>База данных</a:t>
            </a:r>
            <a:r>
              <a:rPr lang="en-US" sz="3600" dirty="0" smtClean="0"/>
              <a:t>.</a:t>
            </a:r>
            <a:endParaRPr lang="ru-RU" sz="3600" dirty="0" smtClean="0"/>
          </a:p>
          <a:p>
            <a:pPr algn="l">
              <a:buFont typeface="Arial" pitchFamily="34" charset="0"/>
              <a:buChar char="•"/>
            </a:pPr>
            <a:r>
              <a:rPr lang="en-US" sz="3600" dirty="0" smtClean="0"/>
              <a:t> </a:t>
            </a:r>
            <a:r>
              <a:rPr lang="ru-RU" sz="3600" dirty="0" smtClean="0"/>
              <a:t>Таблица</a:t>
            </a:r>
            <a:r>
              <a:rPr lang="en-US" sz="3600" dirty="0" smtClean="0"/>
              <a:t>.</a:t>
            </a:r>
            <a:endParaRPr lang="ru-RU" sz="3600" dirty="0" smtClean="0"/>
          </a:p>
          <a:p>
            <a:pPr algn="l">
              <a:buFont typeface="Arial" pitchFamily="34" charset="0"/>
              <a:buChar char="•"/>
            </a:pPr>
            <a:r>
              <a:rPr lang="en-US" sz="3600" dirty="0" smtClean="0"/>
              <a:t> </a:t>
            </a:r>
            <a:r>
              <a:rPr lang="ru-RU" sz="3600" dirty="0" smtClean="0"/>
              <a:t>Запись.</a:t>
            </a:r>
            <a:endParaRPr lang="en-US" sz="3600" dirty="0" smtClean="0"/>
          </a:p>
          <a:p>
            <a:pPr algn="l">
              <a:buFont typeface="Arial" pitchFamily="34" charset="0"/>
              <a:buChar char="•"/>
            </a:pPr>
            <a:endParaRPr lang="ru-RU" sz="3600" dirty="0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smtClean="0"/>
              <a:t>Источник </a:t>
            </a:r>
            <a:r>
              <a:rPr lang="en-US" smtClean="0"/>
              <a:t>https://htmlacademy.ru/tutorial/php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185053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566928" y="749808"/>
            <a:ext cx="11100816" cy="5669280"/>
          </a:xfrm>
        </p:spPr>
        <p:txBody>
          <a:bodyPr>
            <a:normAutofit/>
          </a:bodyPr>
          <a:lstStyle/>
          <a:p>
            <a:r>
              <a:rPr lang="ru-RU" sz="3600" b="1" dirty="0" smtClean="0"/>
              <a:t>Язык запросов </a:t>
            </a:r>
            <a:r>
              <a:rPr lang="en-US" sz="3600" b="1" dirty="0" smtClean="0"/>
              <a:t>SQL</a:t>
            </a:r>
          </a:p>
          <a:p>
            <a:pPr algn="l"/>
            <a:r>
              <a:rPr lang="ru-RU" sz="3600" b="1" dirty="0" smtClean="0"/>
              <a:t>SQL</a:t>
            </a:r>
            <a:r>
              <a:rPr lang="ru-RU" sz="3600" dirty="0" smtClean="0"/>
              <a:t> или </a:t>
            </a:r>
            <a:r>
              <a:rPr lang="ru-RU" sz="3600" b="1" dirty="0" err="1" smtClean="0"/>
              <a:t>Structured</a:t>
            </a:r>
            <a:r>
              <a:rPr lang="ru-RU" sz="3600" b="1" dirty="0" smtClean="0"/>
              <a:t> </a:t>
            </a:r>
            <a:r>
              <a:rPr lang="ru-RU" sz="3600" b="1" dirty="0" err="1" smtClean="0"/>
              <a:t>Query</a:t>
            </a:r>
            <a:r>
              <a:rPr lang="ru-RU" sz="3600" b="1" dirty="0" smtClean="0"/>
              <a:t> </a:t>
            </a:r>
            <a:r>
              <a:rPr lang="ru-RU" sz="3600" b="1" dirty="0" err="1" smtClean="0"/>
              <a:t>Language</a:t>
            </a:r>
            <a:r>
              <a:rPr lang="ru-RU" sz="3600" b="1" dirty="0" smtClean="0"/>
              <a:t> </a:t>
            </a:r>
            <a:r>
              <a:rPr lang="ru-RU" sz="3600" dirty="0" smtClean="0"/>
              <a:t>(язык структурированных запросов) — язык программирования, предназначенный для управления данными в СУБД. </a:t>
            </a:r>
            <a:endParaRPr lang="en-US" sz="3600" dirty="0" smtClean="0"/>
          </a:p>
          <a:p>
            <a:pPr algn="l"/>
            <a:r>
              <a:rPr lang="ru-RU" sz="3600" dirty="0" smtClean="0"/>
              <a:t>Все современные СУБД поддерживают SQL.</a:t>
            </a:r>
            <a:endParaRPr lang="en-US" sz="3600" dirty="0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smtClean="0"/>
              <a:t>Источник </a:t>
            </a:r>
            <a:r>
              <a:rPr lang="en-US" smtClean="0"/>
              <a:t>https://htmlacademy.ru/tutorial/php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475676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566928" y="749808"/>
            <a:ext cx="11100816" cy="5669280"/>
          </a:xfrm>
        </p:spPr>
        <p:txBody>
          <a:bodyPr>
            <a:normAutofit/>
          </a:bodyPr>
          <a:lstStyle/>
          <a:p>
            <a:pPr algn="l"/>
            <a:r>
              <a:rPr lang="ru-RU" sz="3600" dirty="0" smtClean="0"/>
              <a:t>На языке SQL выражаются все действия, которые можно провести с данными: от записи и чтения данных, до администрирования самого сервера СУБД.</a:t>
            </a:r>
            <a:endParaRPr lang="en-US" sz="3600" dirty="0" smtClean="0"/>
          </a:p>
          <a:p>
            <a:pPr algn="l"/>
            <a:endParaRPr lang="en-US" sz="3600" dirty="0" smtClean="0"/>
          </a:p>
          <a:p>
            <a:pPr algn="l"/>
            <a:endParaRPr lang="en-US" sz="3600" dirty="0" smtClean="0"/>
          </a:p>
          <a:p>
            <a:pPr algn="l"/>
            <a:endParaRPr lang="ru-RU" sz="3600" dirty="0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smtClean="0"/>
              <a:t>Источник </a:t>
            </a:r>
            <a:r>
              <a:rPr lang="en-US" smtClean="0"/>
              <a:t>https://htmlacademy.ru/tutorial/php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104630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566928" y="749808"/>
            <a:ext cx="11100816" cy="5669280"/>
          </a:xfrm>
        </p:spPr>
        <p:txBody>
          <a:bodyPr>
            <a:normAutofit/>
          </a:bodyPr>
          <a:lstStyle/>
          <a:p>
            <a:pPr algn="l"/>
            <a:r>
              <a:rPr lang="ru-RU" sz="3600" dirty="0" smtClean="0"/>
              <a:t>Язык SQL — это в первую очередь язык запросов, а кроме того он очень похож на естественный язык.</a:t>
            </a:r>
            <a:endParaRPr lang="en-US" sz="3600" dirty="0" smtClean="0"/>
          </a:p>
          <a:p>
            <a:pPr algn="l"/>
            <a:r>
              <a:rPr lang="ru-RU" sz="3600" dirty="0" smtClean="0"/>
              <a:t/>
            </a:r>
            <a:br>
              <a:rPr lang="ru-RU" sz="3600" dirty="0" smtClean="0"/>
            </a:br>
            <a:r>
              <a:rPr lang="ru-RU" sz="3600" dirty="0" smtClean="0"/>
              <a:t>Каждый раз, когда требуется прочитать или записать любую информацию в БД, требуется составить корректный запрос. </a:t>
            </a:r>
          </a:p>
          <a:p>
            <a:pPr algn="l"/>
            <a:r>
              <a:rPr lang="ru-RU" sz="3600" dirty="0" smtClean="0"/>
              <a:t>Такой запрос должен быть выражен в терминах SQL.</a:t>
            </a:r>
            <a:endParaRPr lang="ru-RU" sz="3600" dirty="0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smtClean="0"/>
              <a:t>Источник </a:t>
            </a:r>
            <a:r>
              <a:rPr lang="en-US" smtClean="0"/>
              <a:t>https://htmlacademy.ru/tutorial/php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599685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541528" y="177800"/>
            <a:ext cx="11100816" cy="570992"/>
          </a:xfrm>
        </p:spPr>
        <p:txBody>
          <a:bodyPr>
            <a:normAutofit lnSpcReduction="10000"/>
          </a:bodyPr>
          <a:lstStyle/>
          <a:p>
            <a:r>
              <a:rPr lang="ru-RU" sz="3600" b="1" dirty="0" smtClean="0"/>
              <a:t>Работа с </a:t>
            </a:r>
            <a:r>
              <a:rPr lang="en-US" sz="3600" b="1" dirty="0" err="1" smtClean="0"/>
              <a:t>MySQL</a:t>
            </a:r>
            <a:r>
              <a:rPr lang="en-US" sz="3600" b="1" dirty="0" smtClean="0"/>
              <a:t> </a:t>
            </a:r>
            <a:r>
              <a:rPr lang="ru-RU" sz="3600" b="1" dirty="0" smtClean="0"/>
              <a:t>в </a:t>
            </a:r>
            <a:r>
              <a:rPr lang="en-US" sz="3600" b="1" dirty="0" smtClean="0"/>
              <a:t>Open Server</a:t>
            </a:r>
            <a:endParaRPr lang="ru-RU" sz="3600" b="1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32893" y="785362"/>
            <a:ext cx="10091791" cy="56766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smtClean="0"/>
              <a:t>Источник </a:t>
            </a:r>
            <a:r>
              <a:rPr lang="en-US" smtClean="0"/>
              <a:t>https://htmlacademy.ru/tutorial/php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925679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566928" y="749808"/>
            <a:ext cx="11100816" cy="5669280"/>
          </a:xfrm>
        </p:spPr>
        <p:txBody>
          <a:bodyPr>
            <a:normAutofit/>
          </a:bodyPr>
          <a:lstStyle/>
          <a:p>
            <a:r>
              <a:rPr lang="ru-RU" sz="3600" b="1" dirty="0" smtClean="0"/>
              <a:t>Оператор SQL </a:t>
            </a:r>
            <a:r>
              <a:rPr lang="ru-RU" sz="3600" b="1" dirty="0" err="1" smtClean="0"/>
              <a:t>create</a:t>
            </a:r>
            <a:r>
              <a:rPr lang="ru-RU" sz="3600" b="1" dirty="0" smtClean="0"/>
              <a:t> </a:t>
            </a:r>
            <a:r>
              <a:rPr lang="ru-RU" sz="3600" b="1" dirty="0" err="1" smtClean="0"/>
              <a:t>database</a:t>
            </a:r>
            <a:r>
              <a:rPr lang="ru-RU" sz="3600" b="1" dirty="0" smtClean="0"/>
              <a:t>: создание новой базы данных</a:t>
            </a:r>
            <a:endParaRPr lang="en-US" sz="3600" b="1" dirty="0" smtClean="0"/>
          </a:p>
          <a:p>
            <a:pPr algn="l"/>
            <a:r>
              <a:rPr lang="ru-RU" sz="3600" dirty="0" smtClean="0"/>
              <a:t>Новая БД в </a:t>
            </a:r>
            <a:r>
              <a:rPr lang="ru-RU" sz="3600" dirty="0" err="1" smtClean="0"/>
              <a:t>MySQL</a:t>
            </a:r>
            <a:r>
              <a:rPr lang="ru-RU" sz="3600" dirty="0" smtClean="0"/>
              <a:t> создаётся простой командой: </a:t>
            </a:r>
            <a:endParaRPr lang="en-US" sz="3600" dirty="0" smtClean="0"/>
          </a:p>
          <a:p>
            <a:pPr algn="l"/>
            <a:r>
              <a:rPr lang="ru-RU" sz="3600" b="1" dirty="0" smtClean="0"/>
              <a:t>CREATE DATABASE &lt;имя базы данных&gt;</a:t>
            </a:r>
          </a:p>
          <a:p>
            <a:pPr algn="l"/>
            <a:r>
              <a:rPr lang="ru-RU" sz="3600" dirty="0" smtClean="0"/>
              <a:t>Так что, выполнив команду</a:t>
            </a:r>
            <a:endParaRPr lang="en-US" sz="3600" dirty="0" smtClean="0"/>
          </a:p>
          <a:p>
            <a:pPr algn="l"/>
            <a:r>
              <a:rPr lang="ru-RU" sz="3600" b="1" dirty="0" smtClean="0"/>
              <a:t>CREATE DATABASE weather_diary; </a:t>
            </a:r>
            <a:endParaRPr lang="en-US" sz="3600" b="1" dirty="0" smtClean="0"/>
          </a:p>
          <a:p>
            <a:pPr algn="l"/>
            <a:r>
              <a:rPr lang="ru-RU" sz="3600" dirty="0" err="1" smtClean="0"/>
              <a:t>MySQL</a:t>
            </a:r>
            <a:r>
              <a:rPr lang="ru-RU" sz="3600" dirty="0" smtClean="0"/>
              <a:t> создаст для нас новую БД, в которой будет происходить вся дальнейшая работа.</a:t>
            </a:r>
            <a:br>
              <a:rPr lang="ru-RU" sz="3600" dirty="0" smtClean="0"/>
            </a:br>
            <a:endParaRPr lang="ru-RU" sz="3600" dirty="0" smtClean="0"/>
          </a:p>
          <a:p>
            <a:pPr algn="l"/>
            <a:endParaRPr lang="ru-RU" sz="3600" dirty="0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smtClean="0"/>
              <a:t>Источник </a:t>
            </a:r>
            <a:r>
              <a:rPr lang="en-US" smtClean="0"/>
              <a:t>https://htmlacademy.ru/tutorial/php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241291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566928" y="749808"/>
            <a:ext cx="11100816" cy="5669280"/>
          </a:xfrm>
        </p:spPr>
        <p:txBody>
          <a:bodyPr>
            <a:normAutofit/>
          </a:bodyPr>
          <a:lstStyle/>
          <a:p>
            <a:pPr algn="l"/>
            <a:r>
              <a:rPr lang="ru-RU" sz="3600" dirty="0" smtClean="0"/>
              <a:t>Это важно: после создания БД её невозможно будет переименовать, а только удалить и создать заново. По этой причине крайне внимательно подойдите к выбору имени для базы данных.</a:t>
            </a:r>
            <a:endParaRPr lang="ru-RU" sz="3600" dirty="0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smtClean="0"/>
              <a:t>Источник </a:t>
            </a:r>
            <a:r>
              <a:rPr lang="en-US" smtClean="0"/>
              <a:t>https://htmlacademy.ru/tutorial/php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638861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566928" y="749808"/>
            <a:ext cx="11100816" cy="5669280"/>
          </a:xfrm>
        </p:spPr>
        <p:txBody>
          <a:bodyPr>
            <a:normAutofit/>
          </a:bodyPr>
          <a:lstStyle/>
          <a:p>
            <a:r>
              <a:rPr lang="ru-RU" sz="3600" b="1" dirty="0" smtClean="0"/>
              <a:t>Оператор </a:t>
            </a:r>
            <a:r>
              <a:rPr lang="ru-RU" sz="3600" b="1" dirty="0" err="1" smtClean="0"/>
              <a:t>create</a:t>
            </a:r>
            <a:r>
              <a:rPr lang="ru-RU" sz="3600" b="1" dirty="0" smtClean="0"/>
              <a:t> </a:t>
            </a:r>
            <a:r>
              <a:rPr lang="ru-RU" sz="3600" b="1" dirty="0" err="1" smtClean="0"/>
              <a:t>table</a:t>
            </a:r>
            <a:r>
              <a:rPr lang="ru-RU" sz="3600" b="1" dirty="0" smtClean="0"/>
              <a:t>: создание таблиц</a:t>
            </a:r>
          </a:p>
          <a:p>
            <a:pPr algn="l"/>
            <a:r>
              <a:rPr lang="ru-RU" sz="3600" dirty="0" smtClean="0"/>
              <a:t>Создав новую БД, сообщим </a:t>
            </a:r>
            <a:r>
              <a:rPr lang="ru-RU" sz="3600" dirty="0" err="1" smtClean="0"/>
              <a:t>MySQL</a:t>
            </a:r>
            <a:r>
              <a:rPr lang="ru-RU" sz="3600" dirty="0" smtClean="0"/>
              <a:t>, что теперь мы собираемся работать именно с ней.</a:t>
            </a:r>
            <a:br>
              <a:rPr lang="ru-RU" sz="3600" dirty="0" smtClean="0"/>
            </a:br>
            <a:r>
              <a:rPr lang="ru-RU" sz="3600" dirty="0" smtClean="0"/>
              <a:t>Выбор активной БД выполняется командой: </a:t>
            </a:r>
            <a:endParaRPr lang="en-US" sz="3600" dirty="0" smtClean="0"/>
          </a:p>
          <a:p>
            <a:pPr algn="l"/>
            <a:r>
              <a:rPr lang="ru-RU" sz="3600" b="1" dirty="0" smtClean="0"/>
              <a:t>USE &lt;имя базы&gt;</a:t>
            </a:r>
            <a:r>
              <a:rPr lang="ru-RU" sz="3600" dirty="0" smtClean="0"/>
              <a:t>;</a:t>
            </a:r>
          </a:p>
          <a:p>
            <a:pPr algn="l"/>
            <a:r>
              <a:rPr lang="ru-RU" sz="3600" b="1" dirty="0" smtClean="0"/>
              <a:t>USE </a:t>
            </a:r>
            <a:r>
              <a:rPr lang="ru-RU" sz="3600" b="1" dirty="0" err="1"/>
              <a:t>weather_diary</a:t>
            </a:r>
            <a:r>
              <a:rPr lang="ru-RU" sz="3600" b="1" dirty="0"/>
              <a:t>;</a:t>
            </a:r>
            <a:endParaRPr lang="ru-RU" sz="3600" dirty="0" smtClean="0"/>
          </a:p>
          <a:p>
            <a:pPr algn="l"/>
            <a:endParaRPr lang="ru-RU" sz="3600" dirty="0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smtClean="0"/>
              <a:t>Источник </a:t>
            </a:r>
            <a:r>
              <a:rPr lang="en-US" smtClean="0"/>
              <a:t>https://htmlacademy.ru/tutorial/php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394910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566928" y="749808"/>
            <a:ext cx="11100816" cy="5669280"/>
          </a:xfrm>
        </p:spPr>
        <p:txBody>
          <a:bodyPr>
            <a:normAutofit/>
          </a:bodyPr>
          <a:lstStyle/>
          <a:p>
            <a:pPr algn="l"/>
            <a:r>
              <a:rPr lang="ru-RU" sz="3600" dirty="0" smtClean="0"/>
              <a:t>Для ведения дневника</a:t>
            </a:r>
            <a:r>
              <a:rPr lang="en-US" sz="3600" dirty="0" smtClean="0"/>
              <a:t> </a:t>
            </a:r>
            <a:r>
              <a:rPr lang="ru-RU" sz="3600" dirty="0" smtClean="0"/>
              <a:t>погоды по всем правилам, понадобится создать три таблицы: </a:t>
            </a:r>
          </a:p>
          <a:p>
            <a:pPr algn="l">
              <a:buFont typeface="Arial" pitchFamily="34" charset="0"/>
              <a:buChar char="•"/>
            </a:pPr>
            <a:r>
              <a:rPr lang="ru-RU" sz="3600" dirty="0" smtClean="0"/>
              <a:t>города (</a:t>
            </a:r>
            <a:r>
              <a:rPr lang="ru-RU" sz="3600" dirty="0" err="1" smtClean="0"/>
              <a:t>cities</a:t>
            </a:r>
            <a:r>
              <a:rPr lang="ru-RU" sz="3600" dirty="0" smtClean="0"/>
              <a:t>), </a:t>
            </a:r>
          </a:p>
          <a:p>
            <a:pPr algn="l">
              <a:buFont typeface="Arial" pitchFamily="34" charset="0"/>
              <a:buChar char="•"/>
            </a:pPr>
            <a:r>
              <a:rPr lang="ru-RU" sz="3600" dirty="0" smtClean="0"/>
              <a:t>пользователи (</a:t>
            </a:r>
            <a:r>
              <a:rPr lang="ru-RU" sz="3600" dirty="0" err="1" smtClean="0"/>
              <a:t>users</a:t>
            </a:r>
            <a:r>
              <a:rPr lang="ru-RU" sz="3600" dirty="0" smtClean="0"/>
              <a:t>) </a:t>
            </a:r>
          </a:p>
          <a:p>
            <a:pPr algn="l">
              <a:buFont typeface="Arial" pitchFamily="34" charset="0"/>
              <a:buChar char="•"/>
            </a:pPr>
            <a:r>
              <a:rPr lang="ru-RU" sz="3600" dirty="0" smtClean="0"/>
              <a:t>записи о погоде (</a:t>
            </a:r>
            <a:r>
              <a:rPr lang="ru-RU" sz="3600" dirty="0" err="1" smtClean="0"/>
              <a:t>weather_log</a:t>
            </a:r>
            <a:r>
              <a:rPr lang="ru-RU" sz="3600" dirty="0" smtClean="0"/>
              <a:t>).</a:t>
            </a:r>
            <a:endParaRPr lang="ru-RU" sz="3600" dirty="0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smtClean="0"/>
              <a:t>Источник </a:t>
            </a:r>
            <a:r>
              <a:rPr lang="en-US" smtClean="0"/>
              <a:t>https://htmlacademy.ru/tutorial/php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306075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566928" y="749808"/>
            <a:ext cx="11100816" cy="5669280"/>
          </a:xfrm>
        </p:spPr>
        <p:txBody>
          <a:bodyPr>
            <a:normAutofit/>
          </a:bodyPr>
          <a:lstStyle/>
          <a:p>
            <a:pPr algn="l"/>
            <a:r>
              <a:rPr lang="en-US" sz="3600" b="1" dirty="0" smtClean="0"/>
              <a:t>USE </a:t>
            </a:r>
            <a:r>
              <a:rPr lang="en-US" sz="3600" b="1" dirty="0" err="1" smtClean="0">
                <a:hlinkClick r:id="rId2" tooltip="Структура"/>
              </a:rPr>
              <a:t>weather_diary</a:t>
            </a:r>
            <a:r>
              <a:rPr lang="en-US" sz="3600" b="1" dirty="0" smtClean="0"/>
              <a:t>;</a:t>
            </a:r>
          </a:p>
          <a:p>
            <a:pPr algn="l"/>
            <a:r>
              <a:rPr lang="en-US" sz="3600" b="1" dirty="0" smtClean="0"/>
              <a:t>CREATE TABLE </a:t>
            </a:r>
            <a:r>
              <a:rPr lang="en-US" sz="3600" b="1" dirty="0" err="1" smtClean="0"/>
              <a:t>weather_log</a:t>
            </a:r>
            <a:r>
              <a:rPr lang="en-US" sz="3600" b="1" dirty="0" smtClean="0"/>
              <a:t> ( </a:t>
            </a:r>
            <a:endParaRPr lang="ru-RU" sz="3600" b="1" dirty="0" smtClean="0"/>
          </a:p>
          <a:p>
            <a:pPr algn="l"/>
            <a:r>
              <a:rPr lang="ru-RU" sz="3600" b="1" dirty="0" smtClean="0"/>
              <a:t>	</a:t>
            </a:r>
            <a:r>
              <a:rPr lang="en-US" sz="3600" b="1" dirty="0" smtClean="0"/>
              <a:t>id INT AUTO_INCREMENT PRIMARY KEY, </a:t>
            </a:r>
            <a:endParaRPr lang="ru-RU" sz="3600" b="1" dirty="0" smtClean="0"/>
          </a:p>
          <a:p>
            <a:pPr algn="l"/>
            <a:r>
              <a:rPr lang="ru-RU" sz="3600" b="1" dirty="0" smtClean="0"/>
              <a:t>	</a:t>
            </a:r>
            <a:r>
              <a:rPr lang="en-US" sz="3600" b="1" dirty="0" err="1" smtClean="0"/>
              <a:t>city_id</a:t>
            </a:r>
            <a:r>
              <a:rPr lang="en-US" sz="3600" b="1" dirty="0" smtClean="0"/>
              <a:t> INT, </a:t>
            </a:r>
            <a:endParaRPr lang="ru-RU" sz="3600" b="1" dirty="0" smtClean="0"/>
          </a:p>
          <a:p>
            <a:pPr algn="l"/>
            <a:r>
              <a:rPr lang="ru-RU" sz="3600" b="1" dirty="0" smtClean="0"/>
              <a:t>	</a:t>
            </a:r>
            <a:r>
              <a:rPr lang="en-US" sz="3600" b="1" dirty="0" smtClean="0"/>
              <a:t>day DATE, </a:t>
            </a:r>
            <a:endParaRPr lang="ru-RU" sz="3600" b="1" dirty="0" smtClean="0"/>
          </a:p>
          <a:p>
            <a:pPr algn="l"/>
            <a:r>
              <a:rPr lang="ru-RU" sz="3600" b="1" dirty="0" smtClean="0"/>
              <a:t>	</a:t>
            </a:r>
            <a:r>
              <a:rPr lang="en-US" sz="3600" b="1" dirty="0" smtClean="0"/>
              <a:t>temperature INT, </a:t>
            </a:r>
            <a:endParaRPr lang="ru-RU" sz="3600" b="1" dirty="0" smtClean="0"/>
          </a:p>
          <a:p>
            <a:pPr algn="l"/>
            <a:r>
              <a:rPr lang="ru-RU" sz="3600" b="1" dirty="0" smtClean="0"/>
              <a:t>	</a:t>
            </a:r>
            <a:r>
              <a:rPr lang="en-US" sz="3600" b="1" dirty="0" smtClean="0"/>
              <a:t>cloud TINYINT DEFAULT 0 </a:t>
            </a:r>
            <a:endParaRPr lang="ru-RU" sz="3600" b="1" dirty="0" smtClean="0"/>
          </a:p>
          <a:p>
            <a:pPr algn="l"/>
            <a:r>
              <a:rPr lang="en-US" sz="3600" b="1" dirty="0" smtClean="0"/>
              <a:t>);</a:t>
            </a:r>
            <a:endParaRPr lang="ru-RU" sz="3600" b="1" dirty="0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smtClean="0"/>
              <a:t>Источник </a:t>
            </a:r>
            <a:r>
              <a:rPr lang="en-US" smtClean="0"/>
              <a:t>https://htmlacademy.ru/tutorial/php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755087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566928" y="749808"/>
            <a:ext cx="11100816" cy="5669280"/>
          </a:xfrm>
        </p:spPr>
        <p:txBody>
          <a:bodyPr>
            <a:normAutofit/>
          </a:bodyPr>
          <a:lstStyle/>
          <a:p>
            <a:pPr algn="l"/>
            <a:r>
              <a:rPr lang="ru-RU" sz="3600" dirty="0" smtClean="0"/>
              <a:t>Создадим таблицу городов:</a:t>
            </a:r>
          </a:p>
          <a:p>
            <a:pPr algn="l"/>
            <a:r>
              <a:rPr lang="en-US" sz="3600" b="1" dirty="0" smtClean="0"/>
              <a:t>CREATE TABLE cities ( </a:t>
            </a:r>
            <a:endParaRPr lang="ru-RU" sz="3600" b="1" dirty="0" smtClean="0"/>
          </a:p>
          <a:p>
            <a:pPr algn="l"/>
            <a:r>
              <a:rPr lang="ru-RU" sz="3600" b="1" dirty="0" smtClean="0"/>
              <a:t>	</a:t>
            </a:r>
            <a:r>
              <a:rPr lang="en-US" sz="3600" b="1" dirty="0" smtClean="0"/>
              <a:t>id INT AUTO_INCREMENT PRIMARY KEY, </a:t>
            </a:r>
            <a:endParaRPr lang="ru-RU" sz="3600" b="1" dirty="0" smtClean="0"/>
          </a:p>
          <a:p>
            <a:pPr algn="l"/>
            <a:r>
              <a:rPr lang="ru-RU" sz="3600" b="1" dirty="0" smtClean="0"/>
              <a:t>	</a:t>
            </a:r>
            <a:r>
              <a:rPr lang="en-US" sz="3600" b="1" dirty="0" smtClean="0"/>
              <a:t>name CHAR(128) </a:t>
            </a:r>
            <a:endParaRPr lang="ru-RU" sz="3600" b="1" dirty="0" smtClean="0"/>
          </a:p>
          <a:p>
            <a:pPr algn="l"/>
            <a:r>
              <a:rPr lang="en-US" sz="3600" b="1" dirty="0" smtClean="0"/>
              <a:t>)</a:t>
            </a:r>
            <a:endParaRPr lang="ru-RU" sz="3600" b="1" dirty="0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smtClean="0"/>
              <a:t>Источник </a:t>
            </a:r>
            <a:r>
              <a:rPr lang="en-US" smtClean="0"/>
              <a:t>https://htmlacademy.ru/tutorial/php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557415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566928" y="749808"/>
            <a:ext cx="11100816" cy="5669280"/>
          </a:xfrm>
        </p:spPr>
        <p:txBody>
          <a:bodyPr>
            <a:normAutofit/>
          </a:bodyPr>
          <a:lstStyle/>
          <a:p>
            <a:pPr algn="l"/>
            <a:r>
              <a:rPr lang="ru-RU" sz="3600" dirty="0" err="1" smtClean="0"/>
              <a:t>MySQL</a:t>
            </a:r>
            <a:r>
              <a:rPr lang="ru-RU" sz="3600" dirty="0" smtClean="0"/>
              <a:t> может показать созданную таблицу, если попросить об этом командой: </a:t>
            </a:r>
          </a:p>
          <a:p>
            <a:pPr algn="l"/>
            <a:r>
              <a:rPr lang="ru-RU" sz="3600" b="1" dirty="0" smtClean="0"/>
              <a:t>SHOW COLUMNS FROM </a:t>
            </a:r>
            <a:r>
              <a:rPr lang="ru-RU" sz="3600" b="1" dirty="0" err="1" smtClean="0"/>
              <a:t>weather_log</a:t>
            </a:r>
            <a:r>
              <a:rPr lang="ru-RU" sz="3600" b="1" dirty="0" smtClean="0"/>
              <a:t>;</a:t>
            </a:r>
            <a:r>
              <a:rPr lang="ru-RU" sz="3600" dirty="0" smtClean="0"/>
              <a:t/>
            </a:r>
            <a:br>
              <a:rPr lang="ru-RU" sz="3600" dirty="0" smtClean="0"/>
            </a:br>
            <a:r>
              <a:rPr lang="ru-RU" sz="3600" dirty="0" smtClean="0"/>
              <a:t>В ответе будут перечислены все поля таблицы, их тип и другие характеристики.</a:t>
            </a:r>
            <a:endParaRPr lang="ru-RU" sz="3600" dirty="0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smtClean="0"/>
              <a:t>Источник </a:t>
            </a:r>
            <a:r>
              <a:rPr lang="en-US" smtClean="0"/>
              <a:t>https://htmlacademy.ru/tutorial/php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79060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566928" y="749808"/>
            <a:ext cx="11100816" cy="5669280"/>
          </a:xfrm>
        </p:spPr>
        <p:txBody>
          <a:bodyPr>
            <a:normAutofit/>
          </a:bodyPr>
          <a:lstStyle/>
          <a:p>
            <a:r>
              <a:rPr lang="ru-RU" sz="3600" b="1" dirty="0" smtClean="0"/>
              <a:t>Первичный ключ</a:t>
            </a:r>
          </a:p>
          <a:p>
            <a:pPr algn="l"/>
            <a:r>
              <a:rPr lang="ru-RU" sz="3600" dirty="0" smtClean="0"/>
              <a:t>В примере с созданием новой таблицы при перечислении необходимых полей первым полем идёт </a:t>
            </a:r>
          </a:p>
          <a:p>
            <a:pPr algn="l"/>
            <a:r>
              <a:rPr lang="ru-RU" sz="3600" b="1" dirty="0" err="1" smtClean="0"/>
              <a:t>id</a:t>
            </a:r>
            <a:r>
              <a:rPr lang="ru-RU" sz="3600" b="1" dirty="0" smtClean="0"/>
              <a:t> INT AUTO_INCREMENT PRIMARY KEY</a:t>
            </a:r>
          </a:p>
          <a:p>
            <a:pPr algn="l"/>
            <a:r>
              <a:rPr lang="ru-RU" sz="3600" dirty="0" smtClean="0"/>
              <a:t>Это поле называется первичным ключом. Обязательно создавать первичный ключ в каждой таблице.</a:t>
            </a:r>
            <a:endParaRPr lang="ru-RU" sz="3600" dirty="0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smtClean="0"/>
              <a:t>Источник </a:t>
            </a:r>
            <a:r>
              <a:rPr lang="en-US" smtClean="0"/>
              <a:t>https://htmlacademy.ru/tutorial/php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137805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566928" y="749808"/>
            <a:ext cx="11100816" cy="5669280"/>
          </a:xfrm>
        </p:spPr>
        <p:txBody>
          <a:bodyPr>
            <a:normAutofit/>
          </a:bodyPr>
          <a:lstStyle/>
          <a:p>
            <a:pPr algn="l"/>
            <a:r>
              <a:rPr lang="ru-RU" sz="3600" dirty="0" smtClean="0"/>
              <a:t>Первичный ключ — это особенное поле, в котором сохраняется уникальный идентификатор записи. </a:t>
            </a:r>
          </a:p>
          <a:p>
            <a:pPr algn="l"/>
            <a:r>
              <a:rPr lang="ru-RU" sz="3600" dirty="0" smtClean="0"/>
              <a:t>Он нужен, чтобы у программиста и базы данных всегда была возможность однозначно обратиться к одной конкретной записи для её чтения, обновления или удаления.</a:t>
            </a:r>
          </a:p>
          <a:p>
            <a:pPr algn="l"/>
            <a:r>
              <a:rPr lang="ru-RU" sz="3600" dirty="0" smtClean="0"/>
              <a:t>Если назначить поле первичным ключом, то БД будет следить за тем, чтобы значение в этом поле больше не повторялось в таблице.</a:t>
            </a:r>
            <a:endParaRPr lang="ru-RU" sz="3600" dirty="0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smtClean="0"/>
              <a:t>Источник </a:t>
            </a:r>
            <a:r>
              <a:rPr lang="en-US" smtClean="0"/>
              <a:t>https://htmlacademy.ru/tutorial/php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565981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566928" y="749808"/>
            <a:ext cx="11100816" cy="5669280"/>
          </a:xfrm>
        </p:spPr>
        <p:txBody>
          <a:bodyPr>
            <a:normAutofit/>
          </a:bodyPr>
          <a:lstStyle/>
          <a:p>
            <a:pPr algn="l"/>
            <a:r>
              <a:rPr lang="ru-RU" sz="3600" dirty="0" smtClean="0"/>
              <a:t>А если ещё и добавить </a:t>
            </a:r>
            <a:r>
              <a:rPr lang="ru-RU" sz="3600" dirty="0" err="1" smtClean="0"/>
              <a:t>аттрибут</a:t>
            </a:r>
            <a:r>
              <a:rPr lang="ru-RU" sz="3600" dirty="0" smtClean="0"/>
              <a:t> </a:t>
            </a:r>
            <a:r>
              <a:rPr lang="ru-RU" sz="3600" b="1" dirty="0" smtClean="0"/>
              <a:t>AUTO_INCREMENT</a:t>
            </a:r>
            <a:r>
              <a:rPr lang="ru-RU" sz="3600" dirty="0" smtClean="0"/>
              <a:t>, то </a:t>
            </a:r>
            <a:r>
              <a:rPr lang="ru-RU" sz="3600" dirty="0" err="1" smtClean="0"/>
              <a:t>MySQL</a:t>
            </a:r>
            <a:r>
              <a:rPr lang="ru-RU" sz="3600" dirty="0" smtClean="0"/>
              <a:t> при добавлении новых записей будет заполнять это поле сама. </a:t>
            </a:r>
          </a:p>
          <a:p>
            <a:pPr algn="l"/>
            <a:r>
              <a:rPr lang="ru-RU" sz="3600" dirty="0" smtClean="0"/>
              <a:t>AUTO_INCREMENT будет играть роль счётчика — каждая новая запись в таблице получит значение на единицу больше максимального существующего значения.</a:t>
            </a:r>
            <a:endParaRPr lang="ru-RU" sz="3600" dirty="0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smtClean="0"/>
              <a:t>Источник </a:t>
            </a:r>
            <a:r>
              <a:rPr lang="en-US" smtClean="0"/>
              <a:t>https://htmlacademy.ru/tutorial/php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94161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566928" y="749808"/>
            <a:ext cx="11100816" cy="5669280"/>
          </a:xfrm>
        </p:spPr>
        <p:txBody>
          <a:bodyPr>
            <a:normAutofit/>
          </a:bodyPr>
          <a:lstStyle/>
          <a:p>
            <a:r>
              <a:rPr lang="ru-RU" sz="3600" b="1" dirty="0" smtClean="0"/>
              <a:t>Оператор </a:t>
            </a:r>
            <a:r>
              <a:rPr lang="ru-RU" sz="3600" b="1" dirty="0" err="1" smtClean="0"/>
              <a:t>insert</a:t>
            </a:r>
            <a:r>
              <a:rPr lang="ru-RU" sz="3600" b="1" dirty="0" smtClean="0"/>
              <a:t> </a:t>
            </a:r>
            <a:r>
              <a:rPr lang="ru-RU" sz="3600" b="1" dirty="0" err="1" smtClean="0"/>
              <a:t>into</a:t>
            </a:r>
            <a:r>
              <a:rPr lang="ru-RU" sz="3600" b="1" dirty="0" smtClean="0"/>
              <a:t>: добавление записи в таблицу</a:t>
            </a:r>
            <a:endParaRPr lang="en-US" sz="3600" b="1" dirty="0" smtClean="0"/>
          </a:p>
          <a:p>
            <a:pPr algn="l"/>
            <a:r>
              <a:rPr lang="ru-RU" sz="3600" dirty="0" smtClean="0"/>
              <a:t>Для добавления записи используется следующий синтаксис:</a:t>
            </a:r>
            <a:endParaRPr lang="en-US" sz="3600" dirty="0" smtClean="0"/>
          </a:p>
          <a:p>
            <a:pPr algn="l"/>
            <a:r>
              <a:rPr lang="ru-RU" sz="3600" b="1" dirty="0" err="1" smtClean="0"/>
              <a:t>insert</a:t>
            </a:r>
            <a:r>
              <a:rPr lang="ru-RU" sz="3600" b="1" dirty="0" smtClean="0"/>
              <a:t> </a:t>
            </a:r>
            <a:r>
              <a:rPr lang="ru-RU" sz="3600" b="1" dirty="0" err="1" smtClean="0"/>
              <a:t>into</a:t>
            </a:r>
            <a:r>
              <a:rPr lang="ru-RU" sz="3600" b="1" dirty="0" smtClean="0"/>
              <a:t> &lt;название таблицы&gt; </a:t>
            </a:r>
            <a:r>
              <a:rPr lang="ru-RU" sz="3600" b="1" dirty="0" err="1" smtClean="0"/>
              <a:t>set</a:t>
            </a:r>
            <a:r>
              <a:rPr lang="ru-RU" sz="3600" b="1" dirty="0" smtClean="0"/>
              <a:t> &lt;имя столбца1&gt; = &lt;значение2&gt;, &lt;имя столбца2&gt; = &lt;значение2&gt;...</a:t>
            </a:r>
            <a:endParaRPr lang="en-US" sz="3600" b="1" dirty="0" smtClean="0"/>
          </a:p>
          <a:p>
            <a:pPr algn="l"/>
            <a:r>
              <a:rPr lang="en-US" sz="3600" b="1" dirty="0" smtClean="0"/>
              <a:t>insert into cities set name = '</a:t>
            </a:r>
            <a:r>
              <a:rPr lang="en-US" sz="3600" b="1" dirty="0" err="1" smtClean="0"/>
              <a:t>Санкт-Петербург</a:t>
            </a:r>
            <a:r>
              <a:rPr lang="en-US" sz="3600" b="1" dirty="0"/>
              <a:t>'</a:t>
            </a:r>
            <a:endParaRPr lang="en-US" sz="3600" b="1" dirty="0" smtClean="0"/>
          </a:p>
          <a:p>
            <a:pPr algn="l"/>
            <a:endParaRPr lang="ru-RU" sz="3600" dirty="0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smtClean="0"/>
              <a:t>Источник </a:t>
            </a:r>
            <a:r>
              <a:rPr lang="en-US" smtClean="0"/>
              <a:t>https://htmlacademy.ru/tutorial/php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482181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566928" y="749808"/>
            <a:ext cx="11100816" cy="5669280"/>
          </a:xfrm>
        </p:spPr>
        <p:txBody>
          <a:bodyPr>
            <a:normAutofit/>
          </a:bodyPr>
          <a:lstStyle/>
          <a:p>
            <a:pPr algn="l"/>
            <a:r>
              <a:rPr lang="ru-RU" sz="3600" dirty="0" smtClean="0"/>
              <a:t>При добавлении записи не обязательно указывать значения для всех полей. </a:t>
            </a:r>
          </a:p>
          <a:p>
            <a:pPr algn="l"/>
            <a:r>
              <a:rPr lang="ru-RU" sz="3600" dirty="0" smtClean="0"/>
              <a:t>Многие из полей имеют значения по умолчанию, которые сами заполняются при сохранении.</a:t>
            </a:r>
            <a:endParaRPr lang="ru-RU" sz="3600" dirty="0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smtClean="0"/>
              <a:t>Источник </a:t>
            </a:r>
            <a:r>
              <a:rPr lang="en-US" smtClean="0"/>
              <a:t>https://htmlacademy.ru/tutorial/php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938472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566928" y="749808"/>
            <a:ext cx="11100816" cy="5669280"/>
          </a:xfrm>
        </p:spPr>
        <p:txBody>
          <a:bodyPr>
            <a:normAutofit/>
          </a:bodyPr>
          <a:lstStyle/>
          <a:p>
            <a:pPr algn="l"/>
            <a:r>
              <a:rPr lang="ru-RU" sz="3600" dirty="0" smtClean="0"/>
              <a:t>Теперь создадим запись о погоде за сегодняшний день.</a:t>
            </a:r>
          </a:p>
          <a:p>
            <a:pPr algn="l"/>
            <a:r>
              <a:rPr lang="ru-RU" sz="3600" dirty="0" smtClean="0"/>
              <a:t>При определении таблицы </a:t>
            </a:r>
            <a:r>
              <a:rPr lang="ru-RU" sz="3600" b="1" dirty="0" err="1" smtClean="0"/>
              <a:t>weather_log</a:t>
            </a:r>
            <a:r>
              <a:rPr lang="ru-RU" sz="3600" b="1" dirty="0" smtClean="0"/>
              <a:t> </a:t>
            </a:r>
            <a:r>
              <a:rPr lang="ru-RU" sz="3600" dirty="0" smtClean="0"/>
              <a:t>мы решили ссылаться на город, путём записи в поле </a:t>
            </a:r>
            <a:r>
              <a:rPr lang="ru-RU" sz="3600" b="1" dirty="0" err="1" smtClean="0"/>
              <a:t>city_id</a:t>
            </a:r>
            <a:r>
              <a:rPr lang="ru-RU" sz="3600" dirty="0" smtClean="0"/>
              <a:t> идентификатора города из таблицы </a:t>
            </a:r>
            <a:r>
              <a:rPr lang="ru-RU" sz="3600" b="1" dirty="0" err="1" smtClean="0"/>
              <a:t>cities</a:t>
            </a:r>
            <a:r>
              <a:rPr lang="ru-RU" sz="3600" dirty="0" smtClean="0"/>
              <a:t>.</a:t>
            </a:r>
            <a:endParaRPr lang="ru-RU" sz="3600" dirty="0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smtClean="0"/>
              <a:t>Источник </a:t>
            </a:r>
            <a:r>
              <a:rPr lang="en-US" smtClean="0"/>
              <a:t>https://htmlacademy.ru/tutorial/php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563755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566928" y="749808"/>
            <a:ext cx="11100816" cy="5669280"/>
          </a:xfrm>
        </p:spPr>
        <p:txBody>
          <a:bodyPr>
            <a:normAutofit/>
          </a:bodyPr>
          <a:lstStyle/>
          <a:p>
            <a:pPr algn="l"/>
            <a:r>
              <a:rPr lang="ru-RU" sz="3600" dirty="0" smtClean="0"/>
              <a:t>Идентификатором города будет первичный ключ, который также был определён в качестве первого поля таблицы. </a:t>
            </a:r>
          </a:p>
          <a:p>
            <a:pPr algn="l"/>
            <a:r>
              <a:rPr lang="ru-RU" sz="3600" dirty="0" smtClean="0"/>
              <a:t>Нумерация этого поля начинается с единицы, значит первая добавленная запись имеет идентификатор 1</a:t>
            </a:r>
            <a:endParaRPr lang="ru-RU" sz="3600" dirty="0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smtClean="0"/>
              <a:t>Источник </a:t>
            </a:r>
            <a:r>
              <a:rPr lang="en-US" smtClean="0"/>
              <a:t>https://htmlacademy.ru/tutorial/php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24900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566928" y="749808"/>
            <a:ext cx="11100816" cy="5669280"/>
          </a:xfrm>
        </p:spPr>
        <p:txBody>
          <a:bodyPr>
            <a:normAutofit/>
          </a:bodyPr>
          <a:lstStyle/>
          <a:p>
            <a:pPr algn="l"/>
            <a:r>
              <a:rPr lang="ru-RU" sz="3600" dirty="0" smtClean="0"/>
              <a:t>Зная это, запрос на добавление записи о погоде в Санкт-Петербурге за третье сентября 2017 года выглядит так:</a:t>
            </a:r>
          </a:p>
          <a:p>
            <a:pPr algn="l"/>
            <a:r>
              <a:rPr lang="ru-RU" sz="3600" b="1" dirty="0" smtClean="0"/>
              <a:t>INSERT INTO </a:t>
            </a:r>
            <a:r>
              <a:rPr lang="ru-RU" sz="3600" b="1" dirty="0" err="1" smtClean="0"/>
              <a:t>weather_log</a:t>
            </a:r>
            <a:r>
              <a:rPr lang="ru-RU" sz="3600" b="1" dirty="0" smtClean="0"/>
              <a:t> SET </a:t>
            </a:r>
            <a:r>
              <a:rPr lang="ru-RU" sz="3600" b="1" dirty="0" err="1" smtClean="0"/>
              <a:t>city_id</a:t>
            </a:r>
            <a:r>
              <a:rPr lang="ru-RU" sz="3600" b="1" dirty="0" smtClean="0"/>
              <a:t> = 1, </a:t>
            </a:r>
            <a:r>
              <a:rPr lang="ru-RU" sz="3600" b="1" dirty="0" err="1" smtClean="0"/>
              <a:t>day</a:t>
            </a:r>
            <a:r>
              <a:rPr lang="ru-RU" sz="3600" b="1" dirty="0" smtClean="0"/>
              <a:t> = '2017-09-03', </a:t>
            </a:r>
            <a:r>
              <a:rPr lang="ru-RU" sz="3600" b="1" dirty="0" err="1" smtClean="0"/>
              <a:t>temperature</a:t>
            </a:r>
            <a:r>
              <a:rPr lang="ru-RU" sz="3600" b="1" dirty="0" smtClean="0"/>
              <a:t> = 5, </a:t>
            </a:r>
            <a:r>
              <a:rPr lang="ru-RU" sz="3600" b="1" dirty="0" err="1" smtClean="0"/>
              <a:t>cloud</a:t>
            </a:r>
            <a:r>
              <a:rPr lang="ru-RU" sz="3600" b="1" dirty="0" smtClean="0"/>
              <a:t> = 1;</a:t>
            </a:r>
            <a:endParaRPr lang="ru-RU" sz="3600" b="1" dirty="0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smtClean="0"/>
              <a:t>Источник </a:t>
            </a:r>
            <a:r>
              <a:rPr lang="en-US" smtClean="0"/>
              <a:t>https://htmlacademy.ru/tutorial/php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657107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566928" y="749808"/>
            <a:ext cx="11100816" cy="5669280"/>
          </a:xfrm>
        </p:spPr>
        <p:txBody>
          <a:bodyPr>
            <a:normAutofit/>
          </a:bodyPr>
          <a:lstStyle/>
          <a:p>
            <a:pPr algn="l"/>
            <a:r>
              <a:rPr lang="ru-RU" sz="3600" b="1" dirty="0" smtClean="0"/>
              <a:t>Оператор </a:t>
            </a:r>
            <a:r>
              <a:rPr lang="ru-RU" sz="3600" b="1" dirty="0" err="1" smtClean="0"/>
              <a:t>select</a:t>
            </a:r>
            <a:r>
              <a:rPr lang="ru-RU" sz="3600" b="1" dirty="0" smtClean="0"/>
              <a:t>: чтение информации из БД</a:t>
            </a:r>
          </a:p>
          <a:p>
            <a:pPr algn="l"/>
            <a:r>
              <a:rPr lang="ru-RU" sz="3600" dirty="0" smtClean="0"/>
              <a:t>Для вывода информации из БД используются запросы типа SELECT.</a:t>
            </a:r>
            <a:br>
              <a:rPr lang="ru-RU" sz="3600" dirty="0" smtClean="0"/>
            </a:br>
            <a:r>
              <a:rPr lang="ru-RU" sz="3600" dirty="0" smtClean="0"/>
              <a:t>В запросе нужно указать имя таблицы, необходимые поля, а также дополнительные параметры.</a:t>
            </a:r>
            <a:endParaRPr lang="ru-RU" sz="3600" dirty="0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smtClean="0"/>
              <a:t>Источник </a:t>
            </a:r>
            <a:r>
              <a:rPr lang="en-US" smtClean="0"/>
              <a:t>https://htmlacademy.ru/tutorial/php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946479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566928" y="749808"/>
            <a:ext cx="11100816" cy="5669280"/>
          </a:xfrm>
        </p:spPr>
        <p:txBody>
          <a:bodyPr>
            <a:normAutofit/>
          </a:bodyPr>
          <a:lstStyle/>
          <a:p>
            <a:pPr algn="l"/>
            <a:r>
              <a:rPr lang="ru-RU" sz="3600" b="1" dirty="0" smtClean="0"/>
              <a:t>SELECT &lt;перечисление полей&gt; FROM &lt;имя таблицы&gt;</a:t>
            </a:r>
          </a:p>
          <a:p>
            <a:pPr algn="l"/>
            <a:r>
              <a:rPr lang="ru-RU" sz="3600" dirty="0" smtClean="0"/>
              <a:t>Например, чтобы получить список всех доступных городов:</a:t>
            </a:r>
          </a:p>
          <a:p>
            <a:pPr algn="l"/>
            <a:r>
              <a:rPr lang="en-US" sz="3600" b="1" dirty="0" smtClean="0"/>
              <a:t>SELECT id, name FROM cities</a:t>
            </a:r>
            <a:endParaRPr lang="ru-RU" sz="3600" b="1" dirty="0" smtClean="0"/>
          </a:p>
          <a:p>
            <a:pPr algn="l"/>
            <a:r>
              <a:rPr lang="ru-RU" sz="3600" dirty="0" smtClean="0"/>
              <a:t>Все погодные записи:</a:t>
            </a:r>
          </a:p>
          <a:p>
            <a:pPr algn="l"/>
            <a:r>
              <a:rPr lang="en-US" sz="3600" b="1" dirty="0" smtClean="0"/>
              <a:t>SELECT id, day, </a:t>
            </a:r>
            <a:r>
              <a:rPr lang="en-US" sz="3600" b="1" dirty="0" err="1" smtClean="0"/>
              <a:t>city_id</a:t>
            </a:r>
            <a:r>
              <a:rPr lang="en-US" sz="3600" b="1" dirty="0" smtClean="0"/>
              <a:t>, temperature, cloud FROM </a:t>
            </a:r>
            <a:r>
              <a:rPr lang="en-US" sz="3600" b="1" dirty="0" err="1" smtClean="0"/>
              <a:t>weather_log</a:t>
            </a:r>
            <a:endParaRPr lang="ru-RU" sz="3600" b="1" dirty="0" smtClean="0"/>
          </a:p>
          <a:p>
            <a:pPr algn="l"/>
            <a:r>
              <a:rPr lang="ru-RU" sz="3600" dirty="0" smtClean="0"/>
              <a:t>Вместо перечисления всех столбцов можно использовать знак звездочки — </a:t>
            </a:r>
            <a:r>
              <a:rPr lang="ru-RU" sz="3600" b="1" dirty="0" smtClean="0"/>
              <a:t>*</a:t>
            </a:r>
            <a:endParaRPr lang="ru-RU" sz="3600" b="1" dirty="0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smtClean="0"/>
              <a:t>Источник </a:t>
            </a:r>
            <a:r>
              <a:rPr lang="en-US" smtClean="0"/>
              <a:t>https://htmlacademy.ru/tutorial/php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745554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566928" y="749808"/>
            <a:ext cx="11100816" cy="5669280"/>
          </a:xfrm>
        </p:spPr>
        <p:txBody>
          <a:bodyPr>
            <a:normAutofit/>
          </a:bodyPr>
          <a:lstStyle/>
          <a:p>
            <a:pPr algn="l"/>
            <a:r>
              <a:rPr lang="ru-RU" sz="3600" b="1" dirty="0" smtClean="0"/>
              <a:t>Оператор </a:t>
            </a:r>
            <a:r>
              <a:rPr lang="ru-RU" sz="3600" b="1" dirty="0" err="1" smtClean="0"/>
              <a:t>update</a:t>
            </a:r>
            <a:r>
              <a:rPr lang="ru-RU" sz="3600" b="1" dirty="0" smtClean="0"/>
              <a:t>: обновление информации в БД</a:t>
            </a:r>
          </a:p>
          <a:p>
            <a:pPr algn="l"/>
            <a:r>
              <a:rPr lang="ru-RU" sz="3600" dirty="0" smtClean="0"/>
              <a:t>При добавлении записи очень легко совершить ошибку: сделать опечатку, не указать значение для одного из полей, и так далее.</a:t>
            </a:r>
            <a:br>
              <a:rPr lang="ru-RU" sz="3600" dirty="0" smtClean="0"/>
            </a:br>
            <a:r>
              <a:rPr lang="ru-RU" sz="3600" dirty="0" smtClean="0"/>
              <a:t>Язык SQL предлагает возможности для редактирования уже созданных записей.</a:t>
            </a:r>
            <a:endParaRPr lang="ru-RU" sz="3600" dirty="0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smtClean="0"/>
              <a:t>Источник </a:t>
            </a:r>
            <a:r>
              <a:rPr lang="en-US" smtClean="0"/>
              <a:t>https://htmlacademy.ru/tutorial/php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349010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566928" y="749808"/>
            <a:ext cx="11100816" cy="5669280"/>
          </a:xfrm>
        </p:spPr>
        <p:txBody>
          <a:bodyPr>
            <a:normAutofit/>
          </a:bodyPr>
          <a:lstStyle/>
          <a:p>
            <a:pPr algn="l"/>
            <a:r>
              <a:rPr lang="ru-RU" sz="3600" dirty="0" smtClean="0"/>
              <a:t>Запрос с этим оператором позволяет обновить значение одного или нескольких полей в существующей записи. </a:t>
            </a:r>
          </a:p>
          <a:p>
            <a:pPr algn="l"/>
            <a:r>
              <a:rPr lang="ru-RU" sz="3600" dirty="0" smtClean="0"/>
              <a:t>Выглядит он так:</a:t>
            </a:r>
          </a:p>
          <a:p>
            <a:pPr algn="l"/>
            <a:r>
              <a:rPr lang="ru-RU" sz="3600" b="1" dirty="0" smtClean="0"/>
              <a:t>UPDATE &lt;имя таблицы&gt; SET &lt;имя столбца1&gt; = &lt;значение2&gt;, &lt;имя столбца2&gt; = &lt;значение2&gt;... WHERE &lt;имя столбца&gt; = &lt;значение&gt;</a:t>
            </a:r>
            <a:endParaRPr lang="ru-RU" sz="3600" b="1" dirty="0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smtClean="0"/>
              <a:t>Источник </a:t>
            </a:r>
            <a:r>
              <a:rPr lang="en-US" smtClean="0"/>
              <a:t>https://htmlacademy.ru/tutorial/php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554610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566928" y="749808"/>
            <a:ext cx="11100816" cy="5669280"/>
          </a:xfrm>
        </p:spPr>
        <p:txBody>
          <a:bodyPr>
            <a:normAutofit/>
          </a:bodyPr>
          <a:lstStyle/>
          <a:p>
            <a:pPr algn="l"/>
            <a:r>
              <a:rPr lang="ru-RU" sz="3600" dirty="0" smtClean="0"/>
              <a:t>Но чтобы правильно составить запрос, необходимо определить условие для поиска записи, которую предлагается обновить. </a:t>
            </a:r>
          </a:p>
          <a:p>
            <a:pPr algn="l"/>
            <a:r>
              <a:rPr lang="ru-RU" sz="3600" dirty="0" smtClean="0"/>
              <a:t>В противном случае, если не указать это условие, то будут обновлены абсолютно все записи в таблице.</a:t>
            </a:r>
            <a:endParaRPr lang="ru-RU" sz="3600" dirty="0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smtClean="0"/>
              <a:t>Источник </a:t>
            </a:r>
            <a:r>
              <a:rPr lang="en-US" smtClean="0"/>
              <a:t>https://htmlacademy.ru/tutorial/php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436886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566928" y="749808"/>
            <a:ext cx="11100816" cy="5669280"/>
          </a:xfrm>
        </p:spPr>
        <p:txBody>
          <a:bodyPr>
            <a:normAutofit/>
          </a:bodyPr>
          <a:lstStyle/>
          <a:p>
            <a:pPr algn="l"/>
            <a:r>
              <a:rPr lang="ru-RU" sz="3600" dirty="0" smtClean="0"/>
              <a:t>В качестве такого условия лучше всего использовать первичный идентификатор записи. </a:t>
            </a:r>
          </a:p>
          <a:p>
            <a:pPr algn="l"/>
            <a:r>
              <a:rPr lang="ru-RU" sz="3600" dirty="0" smtClean="0"/>
              <a:t>Поэтому, прежде чем выполнять запрос обновления, нужно выполнить запрос на чтение информации из таблицы, чтобы узнать, под каким идентификатором сохранилась ошибочная запись.</a:t>
            </a:r>
            <a:endParaRPr lang="ru-RU" sz="3600" dirty="0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smtClean="0"/>
              <a:t>Источник </a:t>
            </a:r>
            <a:r>
              <a:rPr lang="en-US" smtClean="0"/>
              <a:t>https://htmlacademy.ru/tutorial/php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539306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345989" y="667428"/>
            <a:ext cx="11321755" cy="5669280"/>
          </a:xfrm>
        </p:spPr>
        <p:txBody>
          <a:bodyPr>
            <a:normAutofit/>
          </a:bodyPr>
          <a:lstStyle/>
          <a:p>
            <a:pPr algn="l"/>
            <a:r>
              <a:rPr lang="ru-RU" sz="3600" dirty="0" smtClean="0"/>
              <a:t>Допустим, этот идентификатор — единица, а правильная дата — пятое сентября 2017 года.</a:t>
            </a:r>
          </a:p>
          <a:p>
            <a:pPr algn="l"/>
            <a:r>
              <a:rPr lang="ru-RU" sz="3600" dirty="0" smtClean="0"/>
              <a:t>Запрос на обновление:</a:t>
            </a:r>
          </a:p>
          <a:p>
            <a:pPr algn="l"/>
            <a:r>
              <a:rPr lang="ru-RU" sz="3600" b="1" dirty="0" smtClean="0"/>
              <a:t>UPDATE </a:t>
            </a:r>
            <a:r>
              <a:rPr lang="ru-RU" sz="3600" b="1" dirty="0" err="1" smtClean="0"/>
              <a:t>weather_log</a:t>
            </a:r>
            <a:r>
              <a:rPr lang="ru-RU" sz="3600" b="1" dirty="0" smtClean="0"/>
              <a:t> SET </a:t>
            </a:r>
            <a:r>
              <a:rPr lang="ru-RU" sz="3600" b="1" dirty="0" err="1" smtClean="0"/>
              <a:t>day</a:t>
            </a:r>
            <a:r>
              <a:rPr lang="ru-RU" sz="3600" b="1" dirty="0" smtClean="0"/>
              <a:t> = '2017-09-05' WHERE </a:t>
            </a:r>
            <a:r>
              <a:rPr lang="ru-RU" sz="3600" b="1" dirty="0" err="1" smtClean="0"/>
              <a:t>id</a:t>
            </a:r>
            <a:r>
              <a:rPr lang="ru-RU" sz="3600" b="1" dirty="0" smtClean="0"/>
              <a:t> = 1</a:t>
            </a:r>
            <a:endParaRPr lang="ru-RU" sz="3600" b="1" dirty="0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smtClean="0"/>
              <a:t>Источник </a:t>
            </a:r>
            <a:r>
              <a:rPr lang="en-US" smtClean="0"/>
              <a:t>https://htmlacademy.ru/tutorial/php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506382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566928" y="749808"/>
            <a:ext cx="11100816" cy="5669280"/>
          </a:xfrm>
        </p:spPr>
        <p:txBody>
          <a:bodyPr>
            <a:normAutofit/>
          </a:bodyPr>
          <a:lstStyle/>
          <a:p>
            <a:pPr algn="l"/>
            <a:r>
              <a:rPr lang="ru-RU" sz="3600" b="1" dirty="0" smtClean="0"/>
              <a:t>Оператор </a:t>
            </a:r>
            <a:r>
              <a:rPr lang="ru-RU" sz="3600" b="1" dirty="0" err="1" smtClean="0"/>
              <a:t>join</a:t>
            </a:r>
            <a:r>
              <a:rPr lang="ru-RU" sz="3600" b="1" dirty="0" smtClean="0"/>
              <a:t>: объединение записей из двух таблиц</a:t>
            </a:r>
          </a:p>
          <a:p>
            <a:pPr algn="l"/>
            <a:r>
              <a:rPr lang="ru-RU" sz="3600" dirty="0" smtClean="0"/>
              <a:t>В нашей таблице для хранения погодного дневника город сохраняется как идентификатор, поэтому при обычном чтении данных из этой таблицы вместо названия города стоит непонятное число. </a:t>
            </a:r>
            <a:endParaRPr lang="ru-RU" sz="3600" dirty="0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smtClean="0"/>
              <a:t>Источник </a:t>
            </a:r>
            <a:r>
              <a:rPr lang="en-US" smtClean="0"/>
              <a:t>https://htmlacademy.ru/tutorial/php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185053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566928" y="749808"/>
            <a:ext cx="11100816" cy="5669280"/>
          </a:xfrm>
        </p:spPr>
        <p:txBody>
          <a:bodyPr>
            <a:normAutofit/>
          </a:bodyPr>
          <a:lstStyle/>
          <a:p>
            <a:pPr algn="l"/>
            <a:r>
              <a:rPr lang="ru-RU" sz="3600" dirty="0" smtClean="0"/>
              <a:t>Чтобы подставить на место числа действительное значение, а конкретнее — название города, в SQL существуют операторы объединения — </a:t>
            </a:r>
            <a:r>
              <a:rPr lang="ru-RU" sz="3600" b="1" dirty="0" smtClean="0"/>
              <a:t>JOIN</a:t>
            </a:r>
            <a:r>
              <a:rPr lang="ru-RU" sz="3600" dirty="0" smtClean="0"/>
              <a:t>.</a:t>
            </a:r>
            <a:br>
              <a:rPr lang="ru-RU" sz="3600" dirty="0" smtClean="0"/>
            </a:br>
            <a:r>
              <a:rPr lang="ru-RU" sz="3600" dirty="0" smtClean="0"/>
              <a:t>Поддержка операторов объединения и позволяет базе данных называться </a:t>
            </a:r>
            <a:r>
              <a:rPr lang="ru-RU" sz="3600" b="1" i="1" dirty="0" smtClean="0"/>
              <a:t>реляционной</a:t>
            </a:r>
            <a:r>
              <a:rPr lang="ru-RU" sz="3600" dirty="0" smtClean="0"/>
              <a:t>.</a:t>
            </a:r>
            <a:endParaRPr lang="ru-RU" sz="3600" dirty="0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smtClean="0"/>
              <a:t>Источник </a:t>
            </a:r>
            <a:r>
              <a:rPr lang="en-US" smtClean="0"/>
              <a:t>https://htmlacademy.ru/tutorial/php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475676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321276" y="749808"/>
            <a:ext cx="11434119" cy="5669280"/>
          </a:xfrm>
        </p:spPr>
        <p:txBody>
          <a:bodyPr>
            <a:normAutofit/>
          </a:bodyPr>
          <a:lstStyle/>
          <a:p>
            <a:pPr algn="l"/>
            <a:r>
              <a:rPr lang="ru-RU" sz="3600" dirty="0" smtClean="0"/>
              <a:t>Поменяем запрос на показ погодных записей, чтобы он объединял две таблицы, а в поле города показывалось его название, а не идентификатор:</a:t>
            </a:r>
          </a:p>
          <a:p>
            <a:pPr algn="l"/>
            <a:r>
              <a:rPr lang="en-US" sz="3600" b="1" dirty="0" smtClean="0"/>
              <a:t>SELECT day, cities.name, temperature, cloud FROM </a:t>
            </a:r>
            <a:r>
              <a:rPr lang="en-US" sz="3600" b="1" dirty="0" err="1" smtClean="0"/>
              <a:t>weather_log</a:t>
            </a:r>
            <a:r>
              <a:rPr lang="en-US" sz="3600" b="1" dirty="0" smtClean="0"/>
              <a:t> JOIN cities ON </a:t>
            </a:r>
            <a:r>
              <a:rPr lang="en-US" sz="3600" b="1" dirty="0" err="1" smtClean="0"/>
              <a:t>weather_log.city_id</a:t>
            </a:r>
            <a:r>
              <a:rPr lang="en-US" sz="3600" b="1" dirty="0" smtClean="0"/>
              <a:t> = cities.id</a:t>
            </a:r>
            <a:endParaRPr lang="ru-RU" sz="3600" b="1" dirty="0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smtClean="0"/>
              <a:t>Источник </a:t>
            </a:r>
            <a:r>
              <a:rPr lang="en-US" smtClean="0"/>
              <a:t>https://htmlacademy.ru/tutorial/php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104630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566928" y="749808"/>
            <a:ext cx="11100816" cy="5669280"/>
          </a:xfrm>
        </p:spPr>
        <p:txBody>
          <a:bodyPr>
            <a:normAutofit/>
          </a:bodyPr>
          <a:lstStyle/>
          <a:p>
            <a:pPr algn="l"/>
            <a:r>
              <a:rPr lang="ru-RU" sz="3600" b="1" dirty="0" smtClean="0"/>
              <a:t>Важно усвоить три самых главных момента:</a:t>
            </a:r>
          </a:p>
          <a:p>
            <a:pPr marL="742950" indent="-742950" algn="l">
              <a:buFont typeface="+mj-lt"/>
              <a:buAutoNum type="arabicPeriod"/>
            </a:pPr>
            <a:r>
              <a:rPr lang="ru-RU" sz="3600" dirty="0" smtClean="0"/>
              <a:t>При чтении из объединённых таблиц, в перечислении полей после SELECT нужно явно указывать в поле имени также имя таблицы, с которой производится объединение.</a:t>
            </a:r>
          </a:p>
          <a:p>
            <a:pPr marL="742950" indent="-742950" algn="l">
              <a:buFont typeface="+mj-lt"/>
              <a:buAutoNum type="arabicPeriod"/>
            </a:pPr>
            <a:r>
              <a:rPr lang="ru-RU" sz="3600" dirty="0" smtClean="0"/>
              <a:t>Всегда есть основная таблица (тб1), из которой читается большинство полей и присоединяемая (тб2), имя которой определяется после оператора JOIN.</a:t>
            </a:r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smtClean="0"/>
              <a:t>Источник </a:t>
            </a:r>
            <a:r>
              <a:rPr lang="en-US" smtClean="0"/>
              <a:t>https://htmlacademy.ru/tutorial/php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599685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566928" y="749808"/>
            <a:ext cx="11100816" cy="5669280"/>
          </a:xfrm>
        </p:spPr>
        <p:txBody>
          <a:bodyPr>
            <a:normAutofit/>
          </a:bodyPr>
          <a:lstStyle/>
          <a:p>
            <a:pPr marL="742950" indent="-742950" algn="l">
              <a:buFont typeface="+mj-lt"/>
              <a:buAutoNum type="arabicPeriod" startAt="3"/>
            </a:pPr>
            <a:r>
              <a:rPr lang="ru-RU" sz="3600" dirty="0" smtClean="0"/>
              <a:t>Помимо указания имени второй таблицы, обязательно следует указать условие, по которому будет происходить объединение. </a:t>
            </a:r>
          </a:p>
          <a:p>
            <a:pPr marL="742950" indent="-742950" algn="l"/>
            <a:r>
              <a:rPr lang="ru-RU" sz="3600" dirty="0" smtClean="0"/>
              <a:t>	В этом примере таким условием будет соответствие идентификатора города из тб1 (</a:t>
            </a:r>
            <a:r>
              <a:rPr lang="ru-RU" sz="3600" b="1" dirty="0" err="1" smtClean="0"/>
              <a:t>weather_log.city_id</a:t>
            </a:r>
            <a:r>
              <a:rPr lang="ru-RU" sz="3600" dirty="0" smtClean="0"/>
              <a:t>) первичному ключу города из тб2 (</a:t>
            </a:r>
            <a:r>
              <a:rPr lang="ru-RU" sz="3600" b="1" dirty="0" err="1" smtClean="0"/>
              <a:t>cities.id</a:t>
            </a:r>
            <a:r>
              <a:rPr lang="ru-RU" sz="3600" dirty="0" smtClean="0"/>
              <a:t>).</a:t>
            </a:r>
            <a:endParaRPr lang="ru-RU" sz="3600" dirty="0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smtClean="0"/>
              <a:t>Источник </a:t>
            </a:r>
            <a:r>
              <a:rPr lang="en-US" smtClean="0"/>
              <a:t>https://htmlacademy.ru/tutorial/php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925679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566928" y="749808"/>
            <a:ext cx="11100816" cy="5669280"/>
          </a:xfrm>
        </p:spPr>
        <p:txBody>
          <a:bodyPr>
            <a:normAutofit/>
          </a:bodyPr>
          <a:lstStyle/>
          <a:p>
            <a:r>
              <a:rPr lang="ru-RU" sz="3600" b="1" dirty="0" smtClean="0"/>
              <a:t>Работа с </a:t>
            </a:r>
            <a:r>
              <a:rPr lang="ru-RU" sz="3600" b="1" dirty="0" err="1" smtClean="0"/>
              <a:t>MySQL</a:t>
            </a:r>
            <a:r>
              <a:rPr lang="ru-RU" sz="3600" b="1" dirty="0" smtClean="0"/>
              <a:t> в PHP</a:t>
            </a:r>
          </a:p>
          <a:p>
            <a:pPr algn="l"/>
            <a:r>
              <a:rPr lang="ru-RU" sz="3600" dirty="0" smtClean="0"/>
              <a:t>PHP поддерживает работу с базой данных </a:t>
            </a:r>
            <a:r>
              <a:rPr lang="ru-RU" sz="3600" dirty="0" err="1" smtClean="0"/>
              <a:t>MySQL</a:t>
            </a:r>
            <a:r>
              <a:rPr lang="ru-RU" sz="3600" dirty="0" smtClean="0"/>
              <a:t>.</a:t>
            </a:r>
            <a:br>
              <a:rPr lang="ru-RU" sz="3600" dirty="0" smtClean="0"/>
            </a:br>
            <a:r>
              <a:rPr lang="ru-RU" sz="3600" dirty="0" smtClean="0"/>
              <a:t>Специальные встроенные функции для работы с </a:t>
            </a:r>
            <a:r>
              <a:rPr lang="ru-RU" sz="3600" dirty="0" err="1" smtClean="0"/>
              <a:t>MySQL</a:t>
            </a:r>
            <a:r>
              <a:rPr lang="ru-RU" sz="3600" dirty="0" smtClean="0"/>
              <a:t> позволяют просто и эффективно работать с этой СУБД: выполнять любые запросы, читать и записывать данные, обрабатывать ошибки.</a:t>
            </a:r>
            <a:br>
              <a:rPr lang="ru-RU" sz="3600" dirty="0" smtClean="0"/>
            </a:br>
            <a:endParaRPr lang="ru-RU" sz="3600" dirty="0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smtClean="0"/>
              <a:t>Источник </a:t>
            </a:r>
            <a:r>
              <a:rPr lang="en-US" smtClean="0"/>
              <a:t>https://htmlacademy.ru/tutorial/php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241291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566928" y="749808"/>
            <a:ext cx="11100816" cy="5669280"/>
          </a:xfrm>
        </p:spPr>
        <p:txBody>
          <a:bodyPr>
            <a:normAutofit/>
          </a:bodyPr>
          <a:lstStyle/>
          <a:p>
            <a:pPr algn="l"/>
            <a:r>
              <a:rPr lang="ru-RU" sz="3600" dirty="0" smtClean="0"/>
              <a:t>Сценарий, который подключается к БД, выполняет запрос и показывает результат, будет состоять всего из нескольких строк. </a:t>
            </a:r>
          </a:p>
          <a:p>
            <a:pPr algn="l"/>
            <a:r>
              <a:rPr lang="ru-RU" sz="3600" dirty="0" smtClean="0"/>
              <a:t>Для работы с </a:t>
            </a:r>
            <a:r>
              <a:rPr lang="ru-RU" sz="3600" dirty="0" err="1" smtClean="0"/>
              <a:t>MySQL</a:t>
            </a:r>
            <a:r>
              <a:rPr lang="ru-RU" sz="3600" dirty="0" smtClean="0"/>
              <a:t> не надо ничего дополнительно устанавливать и настраивать; всё необходимое уже доступно вместе со стандартной поставкой PHP.</a:t>
            </a:r>
            <a:endParaRPr lang="ru-RU" sz="3600" dirty="0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smtClean="0"/>
              <a:t>Источник </a:t>
            </a:r>
            <a:r>
              <a:rPr lang="en-US" smtClean="0"/>
              <a:t>https://htmlacademy.ru/tutorial/php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638861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566928" y="749808"/>
            <a:ext cx="11100816" cy="5669280"/>
          </a:xfrm>
        </p:spPr>
        <p:txBody>
          <a:bodyPr>
            <a:normAutofit/>
          </a:bodyPr>
          <a:lstStyle/>
          <a:p>
            <a:pPr algn="l"/>
            <a:r>
              <a:rPr lang="ru-RU" sz="3600" b="1" dirty="0" smtClean="0"/>
              <a:t>Что такое </a:t>
            </a:r>
            <a:r>
              <a:rPr lang="ru-RU" sz="3600" b="1" dirty="0" err="1" smtClean="0"/>
              <a:t>mysqli</a:t>
            </a:r>
            <a:r>
              <a:rPr lang="ru-RU" sz="3600" b="1" dirty="0" smtClean="0"/>
              <a:t>?</a:t>
            </a:r>
          </a:p>
          <a:p>
            <a:pPr algn="l"/>
            <a:r>
              <a:rPr lang="ru-RU" sz="3600" b="1" dirty="0" err="1" smtClean="0"/>
              <a:t>mysqli</a:t>
            </a:r>
            <a:r>
              <a:rPr lang="ru-RU" sz="3600" b="1" dirty="0" smtClean="0"/>
              <a:t> (</a:t>
            </a:r>
            <a:r>
              <a:rPr lang="ru-RU" sz="3600" b="1" dirty="0" err="1" smtClean="0"/>
              <a:t>MySQL</a:t>
            </a:r>
            <a:r>
              <a:rPr lang="ru-RU" sz="3600" b="1" dirty="0" smtClean="0"/>
              <a:t> </a:t>
            </a:r>
            <a:r>
              <a:rPr lang="ru-RU" sz="3600" b="1" dirty="0" err="1" smtClean="0"/>
              <a:t>Improved</a:t>
            </a:r>
            <a:r>
              <a:rPr lang="ru-RU" sz="3600" b="1" dirty="0" smtClean="0"/>
              <a:t>)</a:t>
            </a:r>
            <a:r>
              <a:rPr lang="ru-RU" sz="3600" dirty="0" smtClean="0"/>
              <a:t> — это расширение PHP, которое добавляет в язык полную поддержку баз данных </a:t>
            </a:r>
            <a:r>
              <a:rPr lang="ru-RU" sz="3600" dirty="0" err="1" smtClean="0"/>
              <a:t>MySQL</a:t>
            </a:r>
            <a:r>
              <a:rPr lang="ru-RU" sz="3600" dirty="0" smtClean="0"/>
              <a:t>. </a:t>
            </a:r>
          </a:p>
          <a:p>
            <a:pPr algn="l"/>
            <a:r>
              <a:rPr lang="ru-RU" sz="3600" dirty="0" smtClean="0"/>
              <a:t>Это расширение поддерживает множество возможностей современных версий </a:t>
            </a:r>
            <a:r>
              <a:rPr lang="ru-RU" sz="3600" dirty="0" err="1" smtClean="0"/>
              <a:t>MySQL</a:t>
            </a:r>
            <a:r>
              <a:rPr lang="ru-RU" sz="3600" dirty="0" smtClean="0"/>
              <a:t>.</a:t>
            </a:r>
            <a:endParaRPr lang="ru-RU" sz="3600" dirty="0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smtClean="0"/>
              <a:t>Источник </a:t>
            </a:r>
            <a:r>
              <a:rPr lang="en-US" smtClean="0"/>
              <a:t>https://htmlacademy.ru/tutorial/php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394910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566928" y="749808"/>
            <a:ext cx="11100816" cy="5669280"/>
          </a:xfrm>
        </p:spPr>
        <p:txBody>
          <a:bodyPr>
            <a:normAutofit/>
          </a:bodyPr>
          <a:lstStyle/>
          <a:p>
            <a:pPr algn="l"/>
            <a:r>
              <a:rPr lang="ru-RU" sz="3600" b="1" dirty="0" smtClean="0"/>
              <a:t>Как выглядит работа с базой данных</a:t>
            </a:r>
          </a:p>
          <a:p>
            <a:pPr algn="l"/>
            <a:r>
              <a:rPr lang="ru-RU" sz="3600" dirty="0" smtClean="0"/>
              <a:t>Типичный процесс работы с СУБД в PHP-сценарии состоит из нескольких шагов:</a:t>
            </a:r>
          </a:p>
          <a:p>
            <a:pPr marL="742950" indent="-742950" algn="l">
              <a:buFont typeface="+mj-lt"/>
              <a:buAutoNum type="arabicPeriod"/>
            </a:pPr>
            <a:r>
              <a:rPr lang="ru-RU" sz="3600" dirty="0" smtClean="0"/>
              <a:t>Установить подключение к серверу СУБД, передав необходимые параметры: адрес, логин, пароль.</a:t>
            </a:r>
          </a:p>
          <a:p>
            <a:pPr marL="742950" indent="-742950" algn="l">
              <a:buFont typeface="+mj-lt"/>
              <a:buAutoNum type="arabicPeriod"/>
            </a:pPr>
            <a:r>
              <a:rPr lang="ru-RU" sz="3600" dirty="0" smtClean="0"/>
              <a:t>Убедиться, что подключение прошло успешно: сервер СУБД доступен, логин и пароль верные и так далее.</a:t>
            </a:r>
          </a:p>
          <a:p>
            <a:pPr algn="l"/>
            <a:endParaRPr lang="ru-RU" sz="3600" b="1" dirty="0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smtClean="0"/>
              <a:t>Источник </a:t>
            </a:r>
            <a:r>
              <a:rPr lang="en-US" smtClean="0"/>
              <a:t>https://htmlacademy.ru/tutorial/php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306075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566928" y="749808"/>
            <a:ext cx="11100816" cy="5669280"/>
          </a:xfrm>
        </p:spPr>
        <p:txBody>
          <a:bodyPr>
            <a:normAutofit/>
          </a:bodyPr>
          <a:lstStyle/>
          <a:p>
            <a:pPr marL="742950" indent="-742950" algn="l">
              <a:buFont typeface="+mj-lt"/>
              <a:buAutoNum type="arabicPeriod" startAt="4"/>
            </a:pPr>
            <a:r>
              <a:rPr lang="ru-RU" sz="3600" dirty="0" smtClean="0"/>
              <a:t>Сформировать правильный SQL запрос (например, на чтение данных из таблицы).</a:t>
            </a:r>
          </a:p>
          <a:p>
            <a:pPr marL="742950" indent="-742950" algn="l">
              <a:buFont typeface="+mj-lt"/>
              <a:buAutoNum type="arabicPeriod" startAt="4"/>
            </a:pPr>
            <a:r>
              <a:rPr lang="ru-RU" sz="3600" dirty="0" smtClean="0"/>
              <a:t>Убедиться, что запрос был выполнен успешно.</a:t>
            </a:r>
          </a:p>
          <a:p>
            <a:pPr marL="742950" indent="-742950" algn="l">
              <a:buFont typeface="+mj-lt"/>
              <a:buAutoNum type="arabicPeriod" startAt="4"/>
            </a:pPr>
            <a:r>
              <a:rPr lang="ru-RU" sz="3600" dirty="0" smtClean="0"/>
              <a:t>Получить результат от СУБД в виде массива из записей.</a:t>
            </a:r>
          </a:p>
          <a:p>
            <a:pPr marL="742950" indent="-742950" algn="l">
              <a:buFont typeface="+mj-lt"/>
              <a:buAutoNum type="arabicPeriod" startAt="4"/>
            </a:pPr>
            <a:r>
              <a:rPr lang="ru-RU" sz="3600" dirty="0" smtClean="0"/>
              <a:t>Использовать полученные записи в своём сценарии (например, показать их в виде таблицы).</a:t>
            </a:r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smtClean="0"/>
              <a:t>Источник </a:t>
            </a:r>
            <a:r>
              <a:rPr lang="en-US" smtClean="0"/>
              <a:t>https://htmlacademy.ru/tutorial/php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755087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566928" y="749808"/>
            <a:ext cx="11100816" cy="5669280"/>
          </a:xfrm>
        </p:spPr>
        <p:txBody>
          <a:bodyPr>
            <a:normAutofit/>
          </a:bodyPr>
          <a:lstStyle/>
          <a:p>
            <a:r>
              <a:rPr lang="ru-RU" sz="3600" b="1" dirty="0" smtClean="0"/>
              <a:t>Функция </a:t>
            </a:r>
            <a:r>
              <a:rPr lang="ru-RU" sz="3600" b="1" dirty="0" err="1" smtClean="0"/>
              <a:t>mysqli</a:t>
            </a:r>
            <a:r>
              <a:rPr lang="ru-RU" sz="3600" b="1" dirty="0" smtClean="0"/>
              <a:t> </a:t>
            </a:r>
            <a:r>
              <a:rPr lang="ru-RU" sz="3600" b="1" dirty="0" err="1" smtClean="0"/>
              <a:t>connect</a:t>
            </a:r>
            <a:r>
              <a:rPr lang="ru-RU" sz="3600" b="1" dirty="0" smtClean="0"/>
              <a:t>: соединение с </a:t>
            </a:r>
            <a:r>
              <a:rPr lang="ru-RU" sz="3600" b="1" dirty="0" err="1" smtClean="0"/>
              <a:t>MySQL</a:t>
            </a:r>
            <a:endParaRPr lang="ru-RU" sz="3600" b="1" dirty="0" smtClean="0"/>
          </a:p>
          <a:p>
            <a:pPr algn="l"/>
            <a:r>
              <a:rPr lang="ru-RU" sz="3600" dirty="0" smtClean="0"/>
              <a:t>Перед началом работы с данными внутри </a:t>
            </a:r>
            <a:r>
              <a:rPr lang="ru-RU" sz="3600" dirty="0" err="1" smtClean="0"/>
              <a:t>MySQL</a:t>
            </a:r>
            <a:r>
              <a:rPr lang="ru-RU" sz="3600" dirty="0" smtClean="0"/>
              <a:t>, нужно открыть соединение с сервером СУБД.</a:t>
            </a:r>
          </a:p>
          <a:p>
            <a:pPr algn="l"/>
            <a:r>
              <a:rPr lang="ru-RU" sz="3600" dirty="0" smtClean="0"/>
              <a:t>В PHP это делается с помощью стандартной функции </a:t>
            </a:r>
            <a:r>
              <a:rPr lang="ru-RU" sz="3600" b="1" dirty="0" err="1" smtClean="0"/>
              <a:t>mysqli_connect</a:t>
            </a:r>
            <a:r>
              <a:rPr lang="ru-RU" sz="3600" b="1" dirty="0" smtClean="0"/>
              <a:t>()</a:t>
            </a:r>
            <a:r>
              <a:rPr lang="ru-RU" sz="3600" dirty="0" smtClean="0"/>
              <a:t>. </a:t>
            </a:r>
          </a:p>
          <a:p>
            <a:pPr algn="l"/>
            <a:r>
              <a:rPr lang="ru-RU" sz="3600" dirty="0" smtClean="0"/>
              <a:t>Функция возвращает результат — </a:t>
            </a:r>
            <a:r>
              <a:rPr lang="ru-RU" sz="3600" b="1" dirty="0" smtClean="0"/>
              <a:t>ресурс соединения</a:t>
            </a:r>
            <a:r>
              <a:rPr lang="ru-RU" sz="3600" dirty="0" smtClean="0"/>
              <a:t>. Данный ресурс используется для всех следующих операций с </a:t>
            </a:r>
            <a:r>
              <a:rPr lang="ru-RU" sz="3600" dirty="0" err="1" smtClean="0"/>
              <a:t>MySQL</a:t>
            </a:r>
            <a:r>
              <a:rPr lang="ru-RU" sz="3600" dirty="0" smtClean="0"/>
              <a:t>.</a:t>
            </a:r>
            <a:endParaRPr lang="ru-RU" sz="3600" dirty="0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smtClean="0"/>
              <a:t>Источник </a:t>
            </a:r>
            <a:r>
              <a:rPr lang="en-US" smtClean="0"/>
              <a:t>https://htmlacademy.ru/tutorial/php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557415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566928" y="749808"/>
            <a:ext cx="11100816" cy="5669280"/>
          </a:xfrm>
        </p:spPr>
        <p:txBody>
          <a:bodyPr>
            <a:normAutofit/>
          </a:bodyPr>
          <a:lstStyle/>
          <a:p>
            <a:pPr algn="l"/>
            <a:r>
              <a:rPr lang="ru-RU" sz="3600" dirty="0" smtClean="0"/>
              <a:t>Но чтобы выполнить соединение с сервером, необходимо знать как минимум три параметра:</a:t>
            </a:r>
          </a:p>
          <a:p>
            <a:pPr algn="l">
              <a:buFont typeface="Arial" pitchFamily="34" charset="0"/>
              <a:buChar char="•"/>
            </a:pPr>
            <a:r>
              <a:rPr lang="ru-RU" sz="3600" dirty="0" smtClean="0"/>
              <a:t>Адрес сервера СУБД;</a:t>
            </a:r>
          </a:p>
          <a:p>
            <a:pPr algn="l">
              <a:buFont typeface="Arial" pitchFamily="34" charset="0"/>
              <a:buChar char="•"/>
            </a:pPr>
            <a:r>
              <a:rPr lang="ru-RU" sz="3600" dirty="0" smtClean="0"/>
              <a:t>Логин;</a:t>
            </a:r>
          </a:p>
          <a:p>
            <a:pPr algn="l">
              <a:buFont typeface="Arial" pitchFamily="34" charset="0"/>
              <a:buChar char="•"/>
            </a:pPr>
            <a:r>
              <a:rPr lang="ru-RU" sz="3600" dirty="0" smtClean="0"/>
              <a:t>Пароль.</a:t>
            </a:r>
            <a:endParaRPr lang="ru-RU" sz="3600" dirty="0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smtClean="0"/>
              <a:t>Источник </a:t>
            </a:r>
            <a:r>
              <a:rPr lang="en-US" smtClean="0"/>
              <a:t>https://htmlacademy.ru/tutorial/php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79060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566928" y="749808"/>
            <a:ext cx="11100816" cy="5669280"/>
          </a:xfrm>
        </p:spPr>
        <p:txBody>
          <a:bodyPr>
            <a:normAutofit/>
          </a:bodyPr>
          <a:lstStyle/>
          <a:p>
            <a:pPr algn="l"/>
            <a:r>
              <a:rPr lang="ru-RU" sz="3600" dirty="0" smtClean="0"/>
              <a:t>Если вы следовали стандартной процедуре установки </a:t>
            </a:r>
            <a:r>
              <a:rPr lang="ru-RU" sz="3600" dirty="0" err="1" smtClean="0"/>
              <a:t>MySQL</a:t>
            </a:r>
            <a:r>
              <a:rPr lang="ru-RU" sz="3600" dirty="0" smtClean="0"/>
              <a:t> или используете </a:t>
            </a:r>
            <a:r>
              <a:rPr lang="ru-RU" sz="3600" dirty="0" err="1" smtClean="0"/>
              <a:t>OpenServer</a:t>
            </a:r>
            <a:r>
              <a:rPr lang="ru-RU" sz="3600" dirty="0" smtClean="0"/>
              <a:t>, то адресом сервера будет </a:t>
            </a:r>
            <a:r>
              <a:rPr lang="ru-RU" sz="3600" b="1" dirty="0" err="1" smtClean="0"/>
              <a:t>localhost</a:t>
            </a:r>
            <a:r>
              <a:rPr lang="ru-RU" sz="3600" dirty="0" smtClean="0"/>
              <a:t>, логином — </a:t>
            </a:r>
            <a:r>
              <a:rPr lang="ru-RU" sz="3600" b="1" dirty="0" err="1" smtClean="0"/>
              <a:t>root</a:t>
            </a:r>
            <a:r>
              <a:rPr lang="ru-RU" sz="3600" dirty="0" smtClean="0"/>
              <a:t>. </a:t>
            </a:r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smtClean="0"/>
              <a:t>Источник </a:t>
            </a:r>
            <a:r>
              <a:rPr lang="en-US" smtClean="0"/>
              <a:t>https://htmlacademy.ru/tutorial/php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137805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566928" y="749808"/>
            <a:ext cx="11100816" cy="5669280"/>
          </a:xfrm>
        </p:spPr>
        <p:txBody>
          <a:bodyPr>
            <a:normAutofit/>
          </a:bodyPr>
          <a:lstStyle/>
          <a:p>
            <a:pPr algn="l"/>
            <a:r>
              <a:rPr lang="ru-RU" sz="3600" dirty="0" smtClean="0"/>
              <a:t>При использовании </a:t>
            </a:r>
            <a:r>
              <a:rPr lang="ru-RU" sz="3600" dirty="0" err="1" smtClean="0"/>
              <a:t>OpenServer</a:t>
            </a:r>
            <a:r>
              <a:rPr lang="ru-RU" sz="3600" dirty="0" smtClean="0"/>
              <a:t> пароль для подключения — это пустая строка ‘’, а при самостоятельной установке </a:t>
            </a:r>
            <a:r>
              <a:rPr lang="ru-RU" sz="3600" dirty="0" err="1" smtClean="0"/>
              <a:t>MySQL</a:t>
            </a:r>
            <a:r>
              <a:rPr lang="ru-RU" sz="3600" dirty="0" smtClean="0"/>
              <a:t> пароль вы задавали в одном из шагов мастера установки.</a:t>
            </a:r>
            <a:endParaRPr lang="ru-RU" sz="3600" dirty="0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smtClean="0"/>
              <a:t>Источник </a:t>
            </a:r>
            <a:r>
              <a:rPr lang="en-US" smtClean="0"/>
              <a:t>https://htmlacademy.ru/tutorial/php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565981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566928" y="749808"/>
            <a:ext cx="11100816" cy="5669280"/>
          </a:xfrm>
        </p:spPr>
        <p:txBody>
          <a:bodyPr>
            <a:normAutofit/>
          </a:bodyPr>
          <a:lstStyle/>
          <a:p>
            <a:pPr algn="l"/>
            <a:r>
              <a:rPr lang="ru-RU" sz="3600" dirty="0" smtClean="0"/>
              <a:t>Базовый синтаксис функции </a:t>
            </a:r>
            <a:r>
              <a:rPr lang="en-US" sz="3600" dirty="0" err="1" smtClean="0"/>
              <a:t>mysqli_connect</a:t>
            </a:r>
            <a:r>
              <a:rPr lang="en-US" sz="3600" dirty="0" smtClean="0"/>
              <a:t>():</a:t>
            </a:r>
            <a:endParaRPr lang="ru-RU" sz="3600" dirty="0" smtClean="0"/>
          </a:p>
          <a:p>
            <a:pPr algn="l"/>
            <a:r>
              <a:rPr lang="ru-RU" sz="3600" b="1" dirty="0" err="1" smtClean="0"/>
              <a:t>mysqli_connect</a:t>
            </a:r>
            <a:r>
              <a:rPr lang="ru-RU" sz="3600" b="1" dirty="0" smtClean="0"/>
              <a:t>(&lt;адрес сервера&gt;, &lt;имя пользователя&gt;, &lt;пароль&gt;, &lt;имя базы данных&gt;);</a:t>
            </a:r>
          </a:p>
          <a:p>
            <a:pPr algn="l"/>
            <a:endParaRPr lang="ru-RU" sz="3600" b="1" dirty="0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smtClean="0"/>
              <a:t>Источник </a:t>
            </a:r>
            <a:r>
              <a:rPr lang="en-US" smtClean="0"/>
              <a:t>https://htmlacademy.ru/tutorial/php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94161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566928" y="749808"/>
            <a:ext cx="11100816" cy="5669280"/>
          </a:xfrm>
        </p:spPr>
        <p:txBody>
          <a:bodyPr>
            <a:normAutofit/>
          </a:bodyPr>
          <a:lstStyle/>
          <a:p>
            <a:pPr algn="l"/>
            <a:r>
              <a:rPr lang="ru-RU" sz="3600" b="1" dirty="0" smtClean="0"/>
              <a:t>Проверка соединения</a:t>
            </a:r>
          </a:p>
          <a:p>
            <a:pPr algn="l"/>
            <a:r>
              <a:rPr lang="ru-RU" sz="3600" dirty="0" smtClean="0"/>
              <a:t>Первое, что нужно сделать после соединения с СУБД — это выполнить проверку, что оно было успешным.</a:t>
            </a:r>
            <a:br>
              <a:rPr lang="ru-RU" sz="3600" dirty="0" smtClean="0"/>
            </a:br>
            <a:r>
              <a:rPr lang="ru-RU" sz="3600" dirty="0" smtClean="0"/>
              <a:t>Эта проверка нужна, чтобы исключить ошибку при подключении к БД. </a:t>
            </a:r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smtClean="0"/>
              <a:t>Источник </a:t>
            </a:r>
            <a:r>
              <a:rPr lang="en-US" smtClean="0"/>
              <a:t>https://htmlacademy.ru/tutorial/php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482181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566928" y="749808"/>
            <a:ext cx="11100816" cy="5669280"/>
          </a:xfrm>
        </p:spPr>
        <p:txBody>
          <a:bodyPr>
            <a:normAutofit/>
          </a:bodyPr>
          <a:lstStyle/>
          <a:p>
            <a:pPr algn="l"/>
            <a:r>
              <a:rPr lang="ru-RU" sz="3600" dirty="0" smtClean="0"/>
              <a:t>Соединение с </a:t>
            </a:r>
            <a:r>
              <a:rPr lang="ru-RU" sz="3600" dirty="0" err="1" smtClean="0"/>
              <a:t>MySQL</a:t>
            </a:r>
            <a:r>
              <a:rPr lang="ru-RU" sz="3600" dirty="0" smtClean="0"/>
              <a:t> устанавливается один раз в сценарии, а затем используется при всех запросах к БД.</a:t>
            </a:r>
            <a:br>
              <a:rPr lang="ru-RU" sz="3600" dirty="0" smtClean="0"/>
            </a:br>
            <a:r>
              <a:rPr lang="ru-RU" sz="3600" dirty="0" smtClean="0"/>
              <a:t>Результатом выполнения функции </a:t>
            </a:r>
            <a:r>
              <a:rPr lang="ru-RU" sz="3600" b="1" dirty="0" err="1" smtClean="0"/>
              <a:t>mysqli_connect</a:t>
            </a:r>
            <a:r>
              <a:rPr lang="ru-RU" sz="3600" b="1" dirty="0" smtClean="0"/>
              <a:t>()</a:t>
            </a:r>
            <a:r>
              <a:rPr lang="ru-RU" sz="3600" dirty="0" smtClean="0"/>
              <a:t> будет значение специального типа — </a:t>
            </a:r>
            <a:r>
              <a:rPr lang="ru-RU" sz="3600" b="1" dirty="0" smtClean="0"/>
              <a:t>ресурс</a:t>
            </a:r>
            <a:r>
              <a:rPr lang="ru-RU" sz="3600" dirty="0" smtClean="0"/>
              <a:t>.</a:t>
            </a:r>
            <a:br>
              <a:rPr lang="ru-RU" sz="3600" dirty="0" smtClean="0"/>
            </a:br>
            <a:endParaRPr lang="ru-RU" sz="3600" dirty="0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smtClean="0"/>
              <a:t>Источник </a:t>
            </a:r>
            <a:r>
              <a:rPr lang="en-US" smtClean="0"/>
              <a:t>https://htmlacademy.ru/tutorial/php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938472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566928" y="749808"/>
            <a:ext cx="11100816" cy="5669280"/>
          </a:xfrm>
        </p:spPr>
        <p:txBody>
          <a:bodyPr>
            <a:normAutofit/>
          </a:bodyPr>
          <a:lstStyle/>
          <a:p>
            <a:pPr algn="l"/>
            <a:r>
              <a:rPr lang="ru-RU" sz="3600" dirty="0" smtClean="0"/>
              <a:t>Если подключение к </a:t>
            </a:r>
            <a:r>
              <a:rPr lang="ru-RU" sz="3600" dirty="0" err="1" smtClean="0"/>
              <a:t>MySQL</a:t>
            </a:r>
            <a:r>
              <a:rPr lang="ru-RU" sz="3600" dirty="0" smtClean="0"/>
              <a:t> не удалось, то функция </a:t>
            </a:r>
            <a:r>
              <a:rPr lang="ru-RU" sz="3600" b="1" dirty="0" err="1" smtClean="0"/>
              <a:t>mysqli_connect</a:t>
            </a:r>
            <a:r>
              <a:rPr lang="ru-RU" sz="3600" b="1" dirty="0" smtClean="0"/>
              <a:t>()</a:t>
            </a:r>
            <a:r>
              <a:rPr lang="ru-RU" sz="3600" dirty="0" smtClean="0"/>
              <a:t> вместо ресурса вернет логическое значение типа «ложь» — </a:t>
            </a:r>
            <a:r>
              <a:rPr lang="ru-RU" sz="3600" b="1" dirty="0" err="1" smtClean="0"/>
              <a:t>false</a:t>
            </a:r>
            <a:r>
              <a:rPr lang="ru-RU" sz="3600" dirty="0" smtClean="0"/>
              <a:t>.</a:t>
            </a:r>
            <a:endParaRPr lang="ru-RU" sz="3600" dirty="0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smtClean="0"/>
              <a:t>Источник </a:t>
            </a:r>
            <a:r>
              <a:rPr lang="en-US" smtClean="0"/>
              <a:t>https://htmlacademy.ru/tutorial/php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563755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566928" y="749808"/>
            <a:ext cx="11100816" cy="5669280"/>
          </a:xfrm>
        </p:spPr>
        <p:txBody>
          <a:bodyPr>
            <a:normAutofit/>
          </a:bodyPr>
          <a:lstStyle/>
          <a:p>
            <a:pPr algn="l"/>
            <a:r>
              <a:rPr lang="ru-RU" sz="3600" dirty="0" smtClean="0"/>
              <a:t>Хорошей практикой будет всегда проверять значение результата выполнения этой функции и сравнивать его с ложью.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 l="31110" t="25843" r="23385" b="37078"/>
          <a:stretch>
            <a:fillRect/>
          </a:stretch>
        </p:blipFill>
        <p:spPr bwMode="auto">
          <a:xfrm>
            <a:off x="695325" y="2305049"/>
            <a:ext cx="9467850" cy="43394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smtClean="0"/>
              <a:t>Источник </a:t>
            </a:r>
            <a:r>
              <a:rPr lang="en-US" smtClean="0"/>
              <a:t>https://htmlacademy.ru/tutorial/php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24900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566928" y="749808"/>
            <a:ext cx="11100816" cy="5669280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ru-RU" sz="3600" dirty="0" smtClean="0"/>
              <a:t>Соединение с </a:t>
            </a:r>
            <a:r>
              <a:rPr lang="ru-RU" sz="3600" dirty="0" err="1" smtClean="0"/>
              <a:t>MySQL</a:t>
            </a:r>
            <a:r>
              <a:rPr lang="ru-RU" sz="3600" dirty="0" smtClean="0"/>
              <a:t> и проверка на ошибки:</a:t>
            </a:r>
          </a:p>
          <a:p>
            <a:pPr algn="l"/>
            <a:r>
              <a:rPr lang="ru-RU" sz="3600" dirty="0" smtClean="0"/>
              <a:t>&lt;?</a:t>
            </a:r>
            <a:r>
              <a:rPr lang="ru-RU" sz="3600" dirty="0" err="1" smtClean="0"/>
              <a:t>php</a:t>
            </a:r>
            <a:r>
              <a:rPr lang="ru-RU" sz="3600" dirty="0" smtClean="0"/>
              <a:t> </a:t>
            </a:r>
          </a:p>
          <a:p>
            <a:pPr algn="l"/>
            <a:r>
              <a:rPr lang="en-US" sz="3600" b="1" dirty="0" smtClean="0"/>
              <a:t>$link = </a:t>
            </a:r>
            <a:r>
              <a:rPr lang="en-US" sz="3600" b="1" dirty="0" err="1" smtClean="0"/>
              <a:t>mysqli_connect</a:t>
            </a:r>
            <a:r>
              <a:rPr lang="en-US" sz="3600" b="1" dirty="0" smtClean="0"/>
              <a:t>("</a:t>
            </a:r>
            <a:r>
              <a:rPr lang="en-US" sz="3600" b="1" dirty="0" err="1" smtClean="0"/>
              <a:t>localhost</a:t>
            </a:r>
            <a:r>
              <a:rPr lang="en-US" sz="3600" b="1" dirty="0" smtClean="0"/>
              <a:t>", "root", ""); </a:t>
            </a:r>
            <a:endParaRPr lang="ru-RU" sz="3600" b="1" dirty="0" smtClean="0"/>
          </a:p>
          <a:p>
            <a:pPr algn="l"/>
            <a:r>
              <a:rPr lang="ru-RU" sz="3000" b="1" dirty="0" smtClean="0">
                <a:solidFill>
                  <a:srgbClr val="0000FF"/>
                </a:solidFill>
              </a:rPr>
              <a:t>/* </a:t>
            </a:r>
            <a:r>
              <a:rPr lang="en-US" sz="3000" b="1" dirty="0">
                <a:solidFill>
                  <a:srgbClr val="0000FF"/>
                </a:solidFill>
              </a:rPr>
              <a:t>$link = </a:t>
            </a:r>
            <a:r>
              <a:rPr lang="en-US" sz="3000" b="1" dirty="0" err="1">
                <a:solidFill>
                  <a:srgbClr val="0000FF"/>
                </a:solidFill>
              </a:rPr>
              <a:t>mysqli_connect</a:t>
            </a:r>
            <a:r>
              <a:rPr lang="en-US" sz="3000" b="1" dirty="0">
                <a:solidFill>
                  <a:srgbClr val="0000FF"/>
                </a:solidFill>
              </a:rPr>
              <a:t>("</a:t>
            </a:r>
            <a:r>
              <a:rPr lang="en-US" sz="3000" b="1" dirty="0" err="1">
                <a:solidFill>
                  <a:srgbClr val="0000FF"/>
                </a:solidFill>
              </a:rPr>
              <a:t>localhost</a:t>
            </a:r>
            <a:r>
              <a:rPr lang="en-US" sz="3000" b="1" dirty="0">
                <a:solidFill>
                  <a:srgbClr val="0000FF"/>
                </a:solidFill>
              </a:rPr>
              <a:t>", "root", "", "</a:t>
            </a:r>
            <a:r>
              <a:rPr lang="en-US" sz="3000" b="1" dirty="0" err="1">
                <a:solidFill>
                  <a:srgbClr val="0000FF"/>
                </a:solidFill>
              </a:rPr>
              <a:t>weather_diary</a:t>
            </a:r>
            <a:r>
              <a:rPr lang="en-US" sz="3000" b="1" dirty="0" smtClean="0">
                <a:solidFill>
                  <a:srgbClr val="0000FF"/>
                </a:solidFill>
              </a:rPr>
              <a:t>");</a:t>
            </a:r>
            <a:r>
              <a:rPr lang="ru-RU" sz="3000" b="1" dirty="0" smtClean="0">
                <a:solidFill>
                  <a:srgbClr val="0000FF"/>
                </a:solidFill>
              </a:rPr>
              <a:t>*/</a:t>
            </a:r>
            <a:endParaRPr lang="en-US" sz="3000" b="1" dirty="0" smtClean="0">
              <a:solidFill>
                <a:srgbClr val="0000FF"/>
              </a:solidFill>
            </a:endParaRPr>
          </a:p>
          <a:p>
            <a:pPr algn="l"/>
            <a:r>
              <a:rPr lang="en-US" sz="3600" b="1" dirty="0" smtClean="0"/>
              <a:t>if ($link == false){ </a:t>
            </a:r>
          </a:p>
          <a:p>
            <a:pPr algn="l"/>
            <a:r>
              <a:rPr lang="en-US" sz="3600" b="1" dirty="0" smtClean="0"/>
              <a:t>    print("</a:t>
            </a:r>
            <a:r>
              <a:rPr lang="ru-RU" sz="3600" b="1" dirty="0" smtClean="0"/>
              <a:t>Ошибка: Невозможно подключиться к </a:t>
            </a:r>
            <a:r>
              <a:rPr lang="en-US" sz="3600" b="1" dirty="0" err="1" smtClean="0"/>
              <a:t>MySQL</a:t>
            </a:r>
            <a:r>
              <a:rPr lang="en-US" sz="3600" b="1" dirty="0" smtClean="0"/>
              <a:t> " . </a:t>
            </a:r>
            <a:r>
              <a:rPr lang="en-US" sz="3600" b="1" dirty="0" err="1" smtClean="0"/>
              <a:t>mysqli_connect_error</a:t>
            </a:r>
            <a:r>
              <a:rPr lang="en-US" sz="3600" b="1" dirty="0" smtClean="0"/>
              <a:t>()); </a:t>
            </a:r>
          </a:p>
          <a:p>
            <a:pPr algn="l"/>
            <a:r>
              <a:rPr lang="en-US" sz="3600" b="1" dirty="0" smtClean="0"/>
              <a:t>} else { </a:t>
            </a:r>
          </a:p>
          <a:p>
            <a:pPr algn="l"/>
            <a:r>
              <a:rPr lang="en-US" sz="3600" b="1" dirty="0" smtClean="0"/>
              <a:t>    print("</a:t>
            </a:r>
            <a:r>
              <a:rPr lang="ru-RU" sz="3600" b="1" dirty="0" smtClean="0"/>
              <a:t>Соединение установлено успешно"); </a:t>
            </a:r>
          </a:p>
          <a:p>
            <a:pPr algn="l"/>
            <a:r>
              <a:rPr lang="ru-RU" sz="3600" b="1" dirty="0" smtClean="0"/>
              <a:t>}</a:t>
            </a:r>
          </a:p>
          <a:p>
            <a:pPr algn="l"/>
            <a:r>
              <a:rPr lang="en-US" sz="3600" dirty="0" smtClean="0"/>
              <a:t>?&gt;</a:t>
            </a:r>
            <a:endParaRPr lang="ru-RU" sz="3600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smtClean="0"/>
              <a:t>Источник </a:t>
            </a:r>
            <a:r>
              <a:rPr lang="en-US" smtClean="0"/>
              <a:t>https://htmlacademy.ru/tutorial/php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657107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566928" y="749808"/>
            <a:ext cx="11100816" cy="5669280"/>
          </a:xfrm>
        </p:spPr>
        <p:txBody>
          <a:bodyPr>
            <a:normAutofit/>
          </a:bodyPr>
          <a:lstStyle/>
          <a:p>
            <a:pPr algn="l"/>
            <a:r>
              <a:rPr lang="ru-RU" sz="3600" dirty="0" smtClean="0"/>
              <a:t>Функция </a:t>
            </a:r>
            <a:r>
              <a:rPr lang="ru-RU" sz="3600" b="1" dirty="0" err="1" smtClean="0"/>
              <a:t>mysqli_connect_error</a:t>
            </a:r>
            <a:r>
              <a:rPr lang="ru-RU" sz="3600" b="1" dirty="0" smtClean="0"/>
              <a:t>() </a:t>
            </a:r>
            <a:r>
              <a:rPr lang="ru-RU" sz="3600" dirty="0" smtClean="0"/>
              <a:t>просто возвращает текстовое описание последней ошибки </a:t>
            </a:r>
            <a:r>
              <a:rPr lang="ru-RU" sz="3600" dirty="0" err="1" smtClean="0"/>
              <a:t>MySQL</a:t>
            </a:r>
            <a:r>
              <a:rPr lang="ru-RU" sz="3600" dirty="0" smtClean="0"/>
              <a:t>.</a:t>
            </a:r>
            <a:endParaRPr lang="ru-RU" sz="3600" dirty="0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smtClean="0"/>
              <a:t>Источник </a:t>
            </a:r>
            <a:r>
              <a:rPr lang="en-US" smtClean="0"/>
              <a:t>https://htmlacademy.ru/tutorial/php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946479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566928" y="749808"/>
            <a:ext cx="11100816" cy="5669280"/>
          </a:xfrm>
        </p:spPr>
        <p:txBody>
          <a:bodyPr>
            <a:normAutofit/>
          </a:bodyPr>
          <a:lstStyle/>
          <a:p>
            <a:pPr algn="l"/>
            <a:r>
              <a:rPr lang="ru-RU" sz="3600" b="1" dirty="0" smtClean="0"/>
              <a:t>Установка кодировки</a:t>
            </a:r>
          </a:p>
          <a:p>
            <a:pPr algn="l"/>
            <a:r>
              <a:rPr lang="ru-RU" sz="3600" dirty="0" smtClean="0"/>
              <a:t>Первым делом после установки соединения крайне желательно явно задать </a:t>
            </a:r>
            <a:r>
              <a:rPr lang="ru-RU" sz="3600" b="1" dirty="0" smtClean="0"/>
              <a:t>кодировку</a:t>
            </a:r>
            <a:r>
              <a:rPr lang="ru-RU" sz="3600" dirty="0" smtClean="0"/>
              <a:t>, которая будет использоваться при обмене данными с </a:t>
            </a:r>
            <a:r>
              <a:rPr lang="ru-RU" sz="3600" dirty="0" err="1" smtClean="0"/>
              <a:t>MySQL</a:t>
            </a:r>
            <a:r>
              <a:rPr lang="ru-RU" sz="3600" dirty="0" smtClean="0"/>
              <a:t>. </a:t>
            </a:r>
            <a:endParaRPr lang="en-US" sz="3600" dirty="0" smtClean="0"/>
          </a:p>
          <a:p>
            <a:pPr algn="l"/>
            <a:r>
              <a:rPr lang="ru-RU" sz="3600" dirty="0" smtClean="0"/>
              <a:t>Если этого не сделать, то вместо записей со значениями, написанными кириллицей, можно получить последовательность из знаков вопроса: ‘?????????????????’.</a:t>
            </a:r>
            <a:br>
              <a:rPr lang="ru-RU" sz="3600" dirty="0" smtClean="0"/>
            </a:br>
            <a:endParaRPr lang="ru-RU" sz="3600" dirty="0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smtClean="0"/>
              <a:t>Источник </a:t>
            </a:r>
            <a:r>
              <a:rPr lang="en-US" smtClean="0"/>
              <a:t>https://htmlacademy.ru/tutorial/php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745554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566928" y="749808"/>
            <a:ext cx="11100816" cy="5669280"/>
          </a:xfrm>
        </p:spPr>
        <p:txBody>
          <a:bodyPr>
            <a:normAutofit/>
          </a:bodyPr>
          <a:lstStyle/>
          <a:p>
            <a:pPr algn="l"/>
            <a:r>
              <a:rPr lang="ru-RU" sz="3600" dirty="0" smtClean="0"/>
              <a:t>Задаем кодировку сразу после успешной установки соединения: </a:t>
            </a:r>
          </a:p>
          <a:p>
            <a:pPr algn="l"/>
            <a:r>
              <a:rPr lang="en-US" sz="3600" b="1" dirty="0" smtClean="0"/>
              <a:t>mysqli_set_charset($link, "utf8");</a:t>
            </a:r>
            <a:endParaRPr lang="ru-RU" sz="3600" b="1" dirty="0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smtClean="0"/>
              <a:t>Источник </a:t>
            </a:r>
            <a:r>
              <a:rPr lang="en-US" smtClean="0"/>
              <a:t>https://htmlacademy.ru/tutorial/php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349010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566928" y="749808"/>
            <a:ext cx="11100816" cy="5669280"/>
          </a:xfrm>
        </p:spPr>
        <p:txBody>
          <a:bodyPr>
            <a:normAutofit/>
          </a:bodyPr>
          <a:lstStyle/>
          <a:p>
            <a:r>
              <a:rPr lang="ru-RU" sz="3600" b="1" dirty="0" smtClean="0"/>
              <a:t>Выполнение запросов</a:t>
            </a:r>
          </a:p>
          <a:p>
            <a:pPr algn="l"/>
            <a:r>
              <a:rPr lang="ru-RU" sz="3600" dirty="0" smtClean="0"/>
              <a:t>Установив соединение и определив кодировку мы готовы выполнить свои первые SQL-запросы. </a:t>
            </a:r>
            <a:endParaRPr lang="en-US" sz="3600" dirty="0" smtClean="0"/>
          </a:p>
          <a:p>
            <a:pPr algn="l"/>
            <a:r>
              <a:rPr lang="ru-RU" sz="3600" dirty="0" smtClean="0"/>
              <a:t>Вы уже умеете составлять корректные SQL команды и выполнять их через консольный или визуальный интерфейс MySQL-клиента.</a:t>
            </a:r>
            <a:br>
              <a:rPr lang="ru-RU" sz="3600" dirty="0" smtClean="0"/>
            </a:br>
            <a:endParaRPr lang="ru-RU" sz="3600" dirty="0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smtClean="0"/>
              <a:t>Источник </a:t>
            </a:r>
            <a:r>
              <a:rPr lang="en-US" smtClean="0"/>
              <a:t>https://htmlacademy.ru/tutorial/php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554610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566928" y="749808"/>
            <a:ext cx="11100816" cy="5669280"/>
          </a:xfrm>
        </p:spPr>
        <p:txBody>
          <a:bodyPr>
            <a:normAutofit/>
          </a:bodyPr>
          <a:lstStyle/>
          <a:p>
            <a:pPr algn="l"/>
            <a:r>
              <a:rPr lang="ru-RU" sz="3600" dirty="0" smtClean="0"/>
              <a:t>Те же самые запросы можно отправлять без изменений и из PHP-сценария. </a:t>
            </a:r>
            <a:endParaRPr lang="en-US" sz="3600" dirty="0" smtClean="0"/>
          </a:p>
          <a:p>
            <a:pPr algn="l"/>
            <a:r>
              <a:rPr lang="ru-RU" sz="3600" dirty="0" smtClean="0"/>
              <a:t>Помогут в этом несколько встроенных функций языка.</a:t>
            </a:r>
            <a:endParaRPr lang="ru-RU" sz="3600" dirty="0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smtClean="0"/>
              <a:t>Источник </a:t>
            </a:r>
            <a:r>
              <a:rPr lang="en-US" smtClean="0"/>
              <a:t>https://htmlacademy.ru/tutorial/php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436886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566928" y="749808"/>
            <a:ext cx="11100816" cy="5669280"/>
          </a:xfrm>
        </p:spPr>
        <p:txBody>
          <a:bodyPr>
            <a:normAutofit/>
          </a:bodyPr>
          <a:lstStyle/>
          <a:p>
            <a:pPr algn="l"/>
            <a:r>
              <a:rPr lang="ru-RU" sz="3600" b="1" dirty="0" smtClean="0"/>
              <a:t>Два вида запросов</a:t>
            </a:r>
          </a:p>
          <a:p>
            <a:pPr algn="l"/>
            <a:r>
              <a:rPr lang="ru-RU" sz="3600" dirty="0" smtClean="0"/>
              <a:t>Следует разделять все SQL-запросы на две группы:</a:t>
            </a:r>
          </a:p>
          <a:p>
            <a:pPr algn="l">
              <a:buFont typeface="Arial" pitchFamily="34" charset="0"/>
              <a:buChar char="•"/>
            </a:pPr>
            <a:r>
              <a:rPr lang="ru-RU" sz="3600" dirty="0" smtClean="0"/>
              <a:t>Чтение информации </a:t>
            </a:r>
            <a:r>
              <a:rPr lang="ru-RU" sz="3600" b="1" dirty="0" smtClean="0"/>
              <a:t>(SELECT)</a:t>
            </a:r>
            <a:r>
              <a:rPr lang="ru-RU" sz="3600" dirty="0" smtClean="0"/>
              <a:t>.</a:t>
            </a:r>
          </a:p>
          <a:p>
            <a:pPr algn="l">
              <a:buFont typeface="Arial" pitchFamily="34" charset="0"/>
              <a:buChar char="•"/>
            </a:pPr>
            <a:r>
              <a:rPr lang="ru-RU" sz="3600" dirty="0" smtClean="0"/>
              <a:t>Модификация </a:t>
            </a:r>
            <a:r>
              <a:rPr lang="ru-RU" sz="3600" b="1" dirty="0" smtClean="0"/>
              <a:t>(UPDATE, INSERT, DELETE)</a:t>
            </a:r>
            <a:r>
              <a:rPr lang="ru-RU" sz="3600" dirty="0" smtClean="0"/>
              <a:t>.</a:t>
            </a:r>
            <a:endParaRPr lang="ru-RU" sz="3600" dirty="0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smtClean="0"/>
              <a:t>Источник </a:t>
            </a:r>
            <a:r>
              <a:rPr lang="en-US" smtClean="0"/>
              <a:t>https://htmlacademy.ru/tutorial/php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539306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566928" y="749808"/>
            <a:ext cx="11100816" cy="5669280"/>
          </a:xfrm>
        </p:spPr>
        <p:txBody>
          <a:bodyPr>
            <a:normAutofit/>
          </a:bodyPr>
          <a:lstStyle/>
          <a:p>
            <a:pPr algn="l"/>
            <a:r>
              <a:rPr lang="ru-RU" sz="3600" dirty="0" smtClean="0"/>
              <a:t>При выполнении запросов из среды PHP, запросы из </a:t>
            </a:r>
            <a:r>
              <a:rPr lang="ru-RU" sz="3600" b="1" dirty="0" smtClean="0"/>
              <a:t>второй</a:t>
            </a:r>
            <a:r>
              <a:rPr lang="ru-RU" sz="3600" dirty="0" smtClean="0"/>
              <a:t> группы возвращают только результат их исполнения: </a:t>
            </a:r>
            <a:r>
              <a:rPr lang="ru-RU" sz="3600" b="1" dirty="0" smtClean="0"/>
              <a:t>успех</a:t>
            </a:r>
            <a:r>
              <a:rPr lang="ru-RU" sz="3600" dirty="0" smtClean="0"/>
              <a:t> или </a:t>
            </a:r>
            <a:r>
              <a:rPr lang="ru-RU" sz="3600" b="1" dirty="0" smtClean="0"/>
              <a:t>ошибку</a:t>
            </a:r>
            <a:r>
              <a:rPr lang="ru-RU" sz="3600" dirty="0" smtClean="0"/>
              <a:t>.</a:t>
            </a:r>
            <a:endParaRPr lang="en-US" sz="3600" dirty="0" smtClean="0"/>
          </a:p>
          <a:p>
            <a:pPr algn="l"/>
            <a:r>
              <a:rPr lang="ru-RU" sz="3600" dirty="0" smtClean="0"/>
              <a:t>Запросы </a:t>
            </a:r>
            <a:r>
              <a:rPr lang="ru-RU" sz="3600" b="1" dirty="0" smtClean="0"/>
              <a:t>первой</a:t>
            </a:r>
            <a:r>
              <a:rPr lang="ru-RU" sz="3600" dirty="0" smtClean="0"/>
              <a:t> группы при успешном выполнении возвращают </a:t>
            </a:r>
            <a:r>
              <a:rPr lang="ru-RU" sz="3600" b="1" dirty="0" smtClean="0"/>
              <a:t>специальный ресурс </a:t>
            </a:r>
            <a:r>
              <a:rPr lang="ru-RU" sz="3600" dirty="0" smtClean="0"/>
              <a:t>результата. </a:t>
            </a:r>
            <a:endParaRPr lang="en-US" sz="3600" dirty="0" smtClean="0"/>
          </a:p>
          <a:p>
            <a:pPr algn="l"/>
            <a:r>
              <a:rPr lang="ru-RU" sz="3600" dirty="0" smtClean="0"/>
              <a:t>Его, в свою очередь, можно преобразовать в </a:t>
            </a:r>
            <a:r>
              <a:rPr lang="ru-RU" sz="3600" b="1" dirty="0" smtClean="0"/>
              <a:t>ассоциативный массив </a:t>
            </a:r>
            <a:r>
              <a:rPr lang="ru-RU" sz="3600" dirty="0" smtClean="0"/>
              <a:t>(если нужна одна запись) или в </a:t>
            </a:r>
            <a:r>
              <a:rPr lang="ru-RU" sz="3600" b="1" dirty="0" smtClean="0"/>
              <a:t>двумерный массив </a:t>
            </a:r>
            <a:r>
              <a:rPr lang="ru-RU" sz="3600" dirty="0" smtClean="0"/>
              <a:t>(если требуется список записей).</a:t>
            </a:r>
            <a:endParaRPr lang="ru-RU" sz="3600" dirty="0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smtClean="0"/>
              <a:t>Источник </a:t>
            </a:r>
            <a:r>
              <a:rPr lang="en-US" smtClean="0"/>
              <a:t>https://htmlacademy.ru/tutorial/php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230332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566928" y="749808"/>
            <a:ext cx="11100816" cy="5669280"/>
          </a:xfrm>
        </p:spPr>
        <p:txBody>
          <a:bodyPr>
            <a:normAutofit/>
          </a:bodyPr>
          <a:lstStyle/>
          <a:p>
            <a:pPr algn="l"/>
            <a:r>
              <a:rPr lang="ru-RU" sz="3600" b="1" dirty="0" smtClean="0"/>
              <a:t>Добавление записи</a:t>
            </a:r>
          </a:p>
          <a:p>
            <a:pPr algn="l"/>
            <a:r>
              <a:rPr lang="ru-RU" sz="3600" dirty="0" smtClean="0"/>
              <a:t>Вернёмся к нашему проекту — дневнику наблюдений за погодой. </a:t>
            </a:r>
            <a:endParaRPr lang="en-US" sz="3600" dirty="0" smtClean="0"/>
          </a:p>
          <a:p>
            <a:pPr algn="l"/>
            <a:r>
              <a:rPr lang="ru-RU" sz="3600" dirty="0" smtClean="0"/>
              <a:t>Начнём практическую работу с заполнения таблиц данными. </a:t>
            </a:r>
            <a:endParaRPr lang="en-US" sz="3600" dirty="0" smtClean="0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smtClean="0"/>
              <a:t>Источник </a:t>
            </a:r>
            <a:r>
              <a:rPr lang="en-US" smtClean="0"/>
              <a:t>https://htmlacademy.ru/tutorial/php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432371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566928" y="749808"/>
            <a:ext cx="11100816" cy="5669280"/>
          </a:xfrm>
        </p:spPr>
        <p:txBody>
          <a:bodyPr>
            <a:normAutofit/>
          </a:bodyPr>
          <a:lstStyle/>
          <a:p>
            <a:pPr algn="l"/>
            <a:r>
              <a:rPr lang="ru-RU" sz="3600" dirty="0" smtClean="0"/>
              <a:t>Для начала добавим хотя бы один город в таблицу </a:t>
            </a:r>
            <a:r>
              <a:rPr lang="ru-RU" sz="3600" dirty="0" err="1" smtClean="0"/>
              <a:t>cities</a:t>
            </a:r>
            <a:r>
              <a:rPr lang="ru-RU" sz="3600" dirty="0" smtClean="0"/>
              <a:t>.</a:t>
            </a:r>
          </a:p>
          <a:p>
            <a:pPr algn="l"/>
            <a:r>
              <a:rPr lang="ru-RU" sz="3600" dirty="0" smtClean="0"/>
              <a:t>Выражение </a:t>
            </a:r>
            <a:r>
              <a:rPr lang="ru-RU" sz="3600" b="1" dirty="0" smtClean="0"/>
              <a:t>INSERT INTO</a:t>
            </a:r>
            <a:r>
              <a:rPr lang="ru-RU" sz="3600" dirty="0" smtClean="0"/>
              <a:t> используется для добавления новых записей в таблицу базы данных.</a:t>
            </a:r>
            <a:endParaRPr lang="ru-RU" sz="3600" dirty="0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smtClean="0"/>
              <a:t>Источник </a:t>
            </a:r>
            <a:r>
              <a:rPr lang="en-US" smtClean="0"/>
              <a:t>https://htmlacademy.ru/tutorial/php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909892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452628" y="664083"/>
            <a:ext cx="11100816" cy="2164842"/>
          </a:xfrm>
        </p:spPr>
        <p:txBody>
          <a:bodyPr>
            <a:normAutofit/>
          </a:bodyPr>
          <a:lstStyle/>
          <a:p>
            <a:pPr algn="l"/>
            <a:r>
              <a:rPr lang="ru-RU" sz="3600" dirty="0" smtClean="0"/>
              <a:t>Составим корректный SQL-запрос на вставку записи с именем города, а затем выполним его путём передачи этого запроса в функцию </a:t>
            </a:r>
            <a:r>
              <a:rPr lang="ru-RU" sz="3600" b="1" dirty="0" err="1" smtClean="0"/>
              <a:t>mysqli_query</a:t>
            </a:r>
            <a:r>
              <a:rPr lang="ru-RU" sz="3600" b="1" dirty="0" smtClean="0"/>
              <a:t>()</a:t>
            </a:r>
            <a:r>
              <a:rPr lang="ru-RU" sz="3600" dirty="0" smtClean="0"/>
              <a:t>, чтобы добавить новые данные в таблицу.</a:t>
            </a:r>
            <a:endParaRPr lang="ru-RU" sz="3600" dirty="0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smtClean="0"/>
              <a:t>Источник </a:t>
            </a:r>
            <a:r>
              <a:rPr lang="en-US" smtClean="0"/>
              <a:t>https://htmlacademy.ru/tutorial/php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57896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smtClean="0"/>
              <a:t>Источник </a:t>
            </a:r>
            <a:r>
              <a:rPr lang="en-US" smtClean="0"/>
              <a:t>https://htmlacademy.ru/tutorial/php</a:t>
            </a:r>
            <a:endParaRPr lang="ru-RU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 l="12126" t="5760" r="22033" b="19355"/>
          <a:stretch>
            <a:fillRect/>
          </a:stretch>
        </p:blipFill>
        <p:spPr bwMode="auto">
          <a:xfrm>
            <a:off x="923924" y="85725"/>
            <a:ext cx="9801225" cy="62704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4470325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566928" y="749808"/>
            <a:ext cx="11100816" cy="5669280"/>
          </a:xfrm>
        </p:spPr>
        <p:txBody>
          <a:bodyPr>
            <a:normAutofit fontScale="25000" lnSpcReduction="20000"/>
          </a:bodyPr>
          <a:lstStyle/>
          <a:p>
            <a:pPr algn="l"/>
            <a:r>
              <a:rPr lang="ru-RU" sz="3600" dirty="0" smtClean="0"/>
              <a:t>// Соединение с БД</a:t>
            </a:r>
          </a:p>
          <a:p>
            <a:pPr algn="l"/>
            <a:r>
              <a:rPr lang="ru-RU" sz="3600" dirty="0" smtClean="0"/>
              <a:t>$</a:t>
            </a:r>
            <a:r>
              <a:rPr lang="en-US" sz="3600" dirty="0" smtClean="0"/>
              <a:t>link = </a:t>
            </a:r>
            <a:r>
              <a:rPr lang="en-US" sz="3600" dirty="0" err="1" smtClean="0"/>
              <a:t>mysqli_connect</a:t>
            </a:r>
            <a:r>
              <a:rPr lang="en-US" sz="3600" dirty="0" smtClean="0"/>
              <a:t>("</a:t>
            </a:r>
            <a:r>
              <a:rPr lang="en-US" sz="3600" dirty="0" err="1" smtClean="0"/>
              <a:t>localhost</a:t>
            </a:r>
            <a:r>
              <a:rPr lang="en-US" sz="3600" dirty="0" smtClean="0"/>
              <a:t>", "root", "");</a:t>
            </a:r>
            <a:endParaRPr lang="ru-RU" sz="3600" dirty="0" smtClean="0"/>
          </a:p>
          <a:p>
            <a:pPr algn="l"/>
            <a:r>
              <a:rPr lang="ru-RU" sz="3600" dirty="0" smtClean="0">
                <a:solidFill>
                  <a:srgbClr val="0000FF"/>
                </a:solidFill>
              </a:rPr>
              <a:t>/* </a:t>
            </a:r>
            <a:r>
              <a:rPr lang="en-US" sz="3600" dirty="0">
                <a:solidFill>
                  <a:srgbClr val="0000FF"/>
                </a:solidFill>
              </a:rPr>
              <a:t>$link = </a:t>
            </a:r>
            <a:r>
              <a:rPr lang="en-US" sz="3600" dirty="0" err="1">
                <a:solidFill>
                  <a:srgbClr val="0000FF"/>
                </a:solidFill>
              </a:rPr>
              <a:t>mysqli_connect</a:t>
            </a:r>
            <a:r>
              <a:rPr lang="en-US" sz="3600" dirty="0">
                <a:solidFill>
                  <a:srgbClr val="0000FF"/>
                </a:solidFill>
              </a:rPr>
              <a:t>("</a:t>
            </a:r>
            <a:r>
              <a:rPr lang="en-US" sz="3600" dirty="0" err="1">
                <a:solidFill>
                  <a:srgbClr val="0000FF"/>
                </a:solidFill>
              </a:rPr>
              <a:t>localhost</a:t>
            </a:r>
            <a:r>
              <a:rPr lang="en-US" sz="3600" dirty="0">
                <a:solidFill>
                  <a:srgbClr val="0000FF"/>
                </a:solidFill>
              </a:rPr>
              <a:t>", "root", "", "</a:t>
            </a:r>
            <a:r>
              <a:rPr lang="en-US" sz="3600" dirty="0" err="1">
                <a:solidFill>
                  <a:srgbClr val="0000FF"/>
                </a:solidFill>
              </a:rPr>
              <a:t>weather_diary</a:t>
            </a:r>
            <a:r>
              <a:rPr lang="en-US" sz="3600" dirty="0" smtClean="0">
                <a:solidFill>
                  <a:srgbClr val="0000FF"/>
                </a:solidFill>
              </a:rPr>
              <a:t>");</a:t>
            </a:r>
            <a:r>
              <a:rPr lang="ru-RU" sz="3600" dirty="0" smtClean="0">
                <a:solidFill>
                  <a:srgbClr val="0000FF"/>
                </a:solidFill>
              </a:rPr>
              <a:t>  */</a:t>
            </a:r>
            <a:endParaRPr lang="en-US" sz="3600" dirty="0" smtClean="0">
              <a:solidFill>
                <a:srgbClr val="0000FF"/>
              </a:solidFill>
            </a:endParaRPr>
          </a:p>
          <a:p>
            <a:pPr algn="l"/>
            <a:r>
              <a:rPr lang="en-US" sz="3600" dirty="0" smtClean="0"/>
              <a:t>if ($link == false){ </a:t>
            </a:r>
          </a:p>
          <a:p>
            <a:pPr algn="l"/>
            <a:r>
              <a:rPr lang="en-US" sz="3600" dirty="0" smtClean="0"/>
              <a:t>    print("</a:t>
            </a:r>
            <a:r>
              <a:rPr lang="ru-RU" sz="3600" dirty="0" smtClean="0"/>
              <a:t>Ошибка: Невозможно подключиться к </a:t>
            </a:r>
            <a:r>
              <a:rPr lang="en-US" sz="3600" dirty="0" err="1" smtClean="0"/>
              <a:t>MySQL</a:t>
            </a:r>
            <a:r>
              <a:rPr lang="en-US" sz="3600" dirty="0" smtClean="0"/>
              <a:t> " . </a:t>
            </a:r>
            <a:r>
              <a:rPr lang="en-US" sz="3600" dirty="0" err="1" smtClean="0"/>
              <a:t>mysqli_connect_error</a:t>
            </a:r>
            <a:r>
              <a:rPr lang="en-US" sz="3600" dirty="0" smtClean="0"/>
              <a:t>()); </a:t>
            </a:r>
          </a:p>
          <a:p>
            <a:pPr algn="l"/>
            <a:r>
              <a:rPr lang="en-US" sz="3600" dirty="0" smtClean="0"/>
              <a:t>} else { </a:t>
            </a:r>
          </a:p>
          <a:p>
            <a:pPr algn="l"/>
            <a:r>
              <a:rPr lang="en-US" sz="3600" dirty="0" smtClean="0"/>
              <a:t>    print("</a:t>
            </a:r>
            <a:r>
              <a:rPr lang="ru-RU" sz="3600" dirty="0" smtClean="0"/>
              <a:t>Соединение установлено успешно"); </a:t>
            </a:r>
          </a:p>
          <a:p>
            <a:pPr algn="l"/>
            <a:r>
              <a:rPr lang="ru-RU" sz="3600" dirty="0" smtClean="0"/>
              <a:t>}</a:t>
            </a:r>
          </a:p>
          <a:p>
            <a:pPr algn="l"/>
            <a:r>
              <a:rPr lang="en-US" sz="3600" dirty="0" smtClean="0"/>
              <a:t>print('&lt;</a:t>
            </a:r>
            <a:r>
              <a:rPr lang="en-US" sz="3600" dirty="0" err="1" smtClean="0"/>
              <a:t>br</a:t>
            </a:r>
            <a:r>
              <a:rPr lang="en-US" sz="3600" dirty="0" smtClean="0"/>
              <a:t>&gt;');</a:t>
            </a:r>
          </a:p>
          <a:p>
            <a:pPr algn="l"/>
            <a:endParaRPr lang="en-US" sz="3600" dirty="0" smtClean="0"/>
          </a:p>
          <a:p>
            <a:pPr algn="l"/>
            <a:r>
              <a:rPr lang="en-US" sz="3600" dirty="0" smtClean="0"/>
              <a:t>// </a:t>
            </a:r>
            <a:r>
              <a:rPr lang="ru-RU" sz="3600" dirty="0" smtClean="0"/>
              <a:t>Активизация БД</a:t>
            </a:r>
          </a:p>
          <a:p>
            <a:pPr algn="l"/>
            <a:r>
              <a:rPr lang="ru-RU" sz="3600" dirty="0" smtClean="0"/>
              <a:t>$</a:t>
            </a:r>
            <a:r>
              <a:rPr lang="en-US" sz="3600" dirty="0" err="1" smtClean="0"/>
              <a:t>sql</a:t>
            </a:r>
            <a:r>
              <a:rPr lang="en-US" sz="3600" dirty="0" smtClean="0"/>
              <a:t> = 'use </a:t>
            </a:r>
            <a:r>
              <a:rPr lang="en-US" sz="3600" dirty="0" err="1" smtClean="0"/>
              <a:t>weather_diary</a:t>
            </a:r>
            <a:r>
              <a:rPr lang="en-US" sz="3600" dirty="0" smtClean="0"/>
              <a:t>';</a:t>
            </a:r>
          </a:p>
          <a:p>
            <a:pPr algn="l"/>
            <a:r>
              <a:rPr lang="en-US" sz="3600" dirty="0" smtClean="0"/>
              <a:t>$result = </a:t>
            </a:r>
            <a:r>
              <a:rPr lang="en-US" sz="3600" dirty="0" err="1" smtClean="0"/>
              <a:t>mysqli_query</a:t>
            </a:r>
            <a:r>
              <a:rPr lang="en-US" sz="3600" dirty="0" smtClean="0"/>
              <a:t>($link, $</a:t>
            </a:r>
            <a:r>
              <a:rPr lang="en-US" sz="3600" dirty="0" err="1" smtClean="0"/>
              <a:t>sql</a:t>
            </a:r>
            <a:r>
              <a:rPr lang="en-US" sz="3600" dirty="0" smtClean="0"/>
              <a:t>);</a:t>
            </a:r>
          </a:p>
          <a:p>
            <a:pPr algn="l"/>
            <a:r>
              <a:rPr lang="en-US" sz="3600" dirty="0" smtClean="0"/>
              <a:t>if ($result == false) {</a:t>
            </a:r>
          </a:p>
          <a:p>
            <a:pPr algn="l"/>
            <a:r>
              <a:rPr lang="en-US" sz="3600" dirty="0" smtClean="0"/>
              <a:t>    print("</a:t>
            </a:r>
            <a:r>
              <a:rPr lang="ru-RU" sz="3600" dirty="0" smtClean="0"/>
              <a:t>Произошла ошибка при выполнении запроса");</a:t>
            </a:r>
          </a:p>
          <a:p>
            <a:pPr algn="l"/>
            <a:r>
              <a:rPr lang="ru-RU" sz="3600" dirty="0" smtClean="0"/>
              <a:t>}</a:t>
            </a:r>
          </a:p>
          <a:p>
            <a:pPr algn="l"/>
            <a:r>
              <a:rPr lang="en-US" sz="3600" dirty="0" smtClean="0"/>
              <a:t>print('&lt;</a:t>
            </a:r>
            <a:r>
              <a:rPr lang="en-US" sz="3600" dirty="0" err="1" smtClean="0"/>
              <a:t>br</a:t>
            </a:r>
            <a:r>
              <a:rPr lang="en-US" sz="3600" dirty="0" smtClean="0"/>
              <a:t>&gt;');</a:t>
            </a:r>
          </a:p>
          <a:p>
            <a:pPr algn="l"/>
            <a:endParaRPr lang="en-US" sz="3600" dirty="0" smtClean="0"/>
          </a:p>
          <a:p>
            <a:pPr algn="l"/>
            <a:r>
              <a:rPr lang="en-US" sz="3600" dirty="0" smtClean="0"/>
              <a:t>//</a:t>
            </a:r>
            <a:r>
              <a:rPr lang="ru-RU" sz="3600" dirty="0" smtClean="0"/>
              <a:t>Добавление новой записи     </a:t>
            </a:r>
          </a:p>
          <a:p>
            <a:pPr algn="l"/>
            <a:r>
              <a:rPr lang="ru-RU" sz="3600" dirty="0" smtClean="0"/>
              <a:t>$</a:t>
            </a:r>
            <a:r>
              <a:rPr lang="en-US" sz="3600" dirty="0" err="1" smtClean="0"/>
              <a:t>sql</a:t>
            </a:r>
            <a:r>
              <a:rPr lang="en-US" sz="3600" dirty="0" smtClean="0"/>
              <a:t> = "INSERT INTO cities SET name = '</a:t>
            </a:r>
            <a:r>
              <a:rPr lang="ru-RU" sz="3600" dirty="0" smtClean="0"/>
              <a:t>Москва'";</a:t>
            </a:r>
          </a:p>
          <a:p>
            <a:pPr algn="l"/>
            <a:r>
              <a:rPr lang="ru-RU" sz="3600" dirty="0" smtClean="0"/>
              <a:t>$</a:t>
            </a:r>
            <a:r>
              <a:rPr lang="en-US" sz="3600" dirty="0" smtClean="0"/>
              <a:t>result = </a:t>
            </a:r>
            <a:r>
              <a:rPr lang="en-US" sz="3600" dirty="0" err="1" smtClean="0"/>
              <a:t>mysqli_query</a:t>
            </a:r>
            <a:r>
              <a:rPr lang="en-US" sz="3600" dirty="0" smtClean="0"/>
              <a:t>($link, $</a:t>
            </a:r>
            <a:r>
              <a:rPr lang="en-US" sz="3600" dirty="0" err="1" smtClean="0"/>
              <a:t>sql</a:t>
            </a:r>
            <a:r>
              <a:rPr lang="en-US" sz="3600" dirty="0" smtClean="0"/>
              <a:t>);</a:t>
            </a:r>
          </a:p>
          <a:p>
            <a:pPr algn="l"/>
            <a:r>
              <a:rPr lang="en-US" sz="3600" dirty="0" smtClean="0"/>
              <a:t>if ($result == false) {</a:t>
            </a:r>
          </a:p>
          <a:p>
            <a:pPr algn="l"/>
            <a:r>
              <a:rPr lang="en-US" sz="3600" dirty="0" smtClean="0"/>
              <a:t>    print("</a:t>
            </a:r>
            <a:r>
              <a:rPr lang="ru-RU" sz="3600" dirty="0" smtClean="0"/>
              <a:t>Произошла ошибка при выполнении </a:t>
            </a:r>
            <a:r>
              <a:rPr lang="ru-RU" sz="3600" dirty="0" smtClean="0"/>
              <a:t>запроса" </a:t>
            </a:r>
            <a:r>
              <a:rPr lang="en-US" sz="3600" dirty="0"/>
              <a:t>. mysqli_error($link)</a:t>
            </a:r>
            <a:r>
              <a:rPr lang="ru-RU" sz="3600" dirty="0" smtClean="0"/>
              <a:t>);</a:t>
            </a:r>
            <a:endParaRPr lang="ru-RU" sz="3600" dirty="0" smtClean="0"/>
          </a:p>
          <a:p>
            <a:pPr algn="l"/>
            <a:r>
              <a:rPr lang="ru-RU" sz="3600" dirty="0" smtClean="0"/>
              <a:t>}</a:t>
            </a:r>
            <a:endParaRPr lang="ru-RU" sz="3600" dirty="0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smtClean="0"/>
              <a:t>Источник </a:t>
            </a:r>
            <a:r>
              <a:rPr lang="en-US" smtClean="0"/>
              <a:t>https://htmlacademy.ru/tutorial/php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248917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566928" y="749808"/>
            <a:ext cx="11100816" cy="5669280"/>
          </a:xfrm>
        </p:spPr>
        <p:txBody>
          <a:bodyPr>
            <a:normAutofit/>
          </a:bodyPr>
          <a:lstStyle/>
          <a:p>
            <a:pPr algn="l"/>
            <a:r>
              <a:rPr lang="ru-RU" sz="3600" dirty="0" smtClean="0"/>
              <a:t>Обратите внимание, что первым параметром для </a:t>
            </a:r>
            <a:r>
              <a:rPr lang="ru-RU" sz="3600" dirty="0" err="1" smtClean="0"/>
              <a:t>функциии</a:t>
            </a:r>
            <a:r>
              <a:rPr lang="ru-RU" sz="3600" dirty="0" smtClean="0"/>
              <a:t> </a:t>
            </a:r>
            <a:r>
              <a:rPr lang="ru-RU" sz="3600" b="1" dirty="0" err="1" smtClean="0"/>
              <a:t>mysqli_query</a:t>
            </a:r>
            <a:r>
              <a:rPr lang="ru-RU" sz="3600" b="1" dirty="0" smtClean="0"/>
              <a:t>() </a:t>
            </a:r>
            <a:r>
              <a:rPr lang="ru-RU" sz="3600" dirty="0" smtClean="0"/>
              <a:t>передаётся ресурс подключения, полученный от функции </a:t>
            </a:r>
            <a:r>
              <a:rPr lang="ru-RU" sz="3600" b="1" dirty="0" err="1" smtClean="0"/>
              <a:t>mysqli_connect</a:t>
            </a:r>
            <a:r>
              <a:rPr lang="ru-RU" sz="3600" b="1" dirty="0" smtClean="0"/>
              <a:t>()</a:t>
            </a:r>
            <a:r>
              <a:rPr lang="ru-RU" sz="3600" dirty="0" smtClean="0"/>
              <a:t>, вторым параметром следует </a:t>
            </a:r>
            <a:r>
              <a:rPr lang="ru-RU" sz="3600" b="1" dirty="0" smtClean="0"/>
              <a:t>строка с SQL-запросом</a:t>
            </a:r>
            <a:r>
              <a:rPr lang="ru-RU" sz="3600" dirty="0" smtClean="0"/>
              <a:t>.</a:t>
            </a:r>
            <a:br>
              <a:rPr lang="ru-RU" sz="3600" dirty="0" smtClean="0"/>
            </a:br>
            <a:endParaRPr lang="ru-RU" sz="3600" dirty="0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smtClean="0"/>
              <a:t>Источник </a:t>
            </a:r>
            <a:r>
              <a:rPr lang="en-US" smtClean="0"/>
              <a:t>https://htmlacademy.ru/tutorial/php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755087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566928" y="749808"/>
            <a:ext cx="11100816" cy="5669280"/>
          </a:xfrm>
        </p:spPr>
        <p:txBody>
          <a:bodyPr>
            <a:normAutofit/>
          </a:bodyPr>
          <a:lstStyle/>
          <a:p>
            <a:pPr algn="l"/>
            <a:r>
              <a:rPr lang="ru-RU" sz="3600" dirty="0" smtClean="0"/>
              <a:t>При запросах на изменение данных (не SELECT) результатом выполнения будет логическое значение — </a:t>
            </a:r>
            <a:r>
              <a:rPr lang="ru-RU" sz="3600" b="1" dirty="0" err="1" smtClean="0"/>
              <a:t>true</a:t>
            </a:r>
            <a:r>
              <a:rPr lang="ru-RU" sz="3600" dirty="0" smtClean="0"/>
              <a:t> или </a:t>
            </a:r>
            <a:r>
              <a:rPr lang="ru-RU" sz="3600" b="1" dirty="0" err="1" smtClean="0"/>
              <a:t>false</a:t>
            </a:r>
            <a:r>
              <a:rPr lang="ru-RU" sz="3600" dirty="0" smtClean="0"/>
              <a:t>.</a:t>
            </a:r>
            <a:br>
              <a:rPr lang="ru-RU" sz="3600" dirty="0" smtClean="0"/>
            </a:br>
            <a:r>
              <a:rPr lang="ru-RU" sz="3600" dirty="0" err="1" smtClean="0"/>
              <a:t>false</a:t>
            </a:r>
            <a:r>
              <a:rPr lang="ru-RU" sz="3600" dirty="0" smtClean="0"/>
              <a:t> будет означать, что запрос выполнить не удалось. </a:t>
            </a:r>
          </a:p>
          <a:p>
            <a:pPr algn="l"/>
            <a:r>
              <a:rPr lang="ru-RU" sz="3600" dirty="0" smtClean="0"/>
              <a:t>Для получения строки с описанием ошибки существует функция </a:t>
            </a:r>
            <a:r>
              <a:rPr lang="ru-RU" sz="3600" b="1" dirty="0" err="1" smtClean="0"/>
              <a:t>mysqli_error</a:t>
            </a:r>
            <a:r>
              <a:rPr lang="ru-RU" sz="3600" b="1" dirty="0" smtClean="0"/>
              <a:t>($</a:t>
            </a:r>
            <a:r>
              <a:rPr lang="ru-RU" sz="3600" b="1" dirty="0" err="1" smtClean="0"/>
              <a:t>link</a:t>
            </a:r>
            <a:r>
              <a:rPr lang="ru-RU" sz="3600" b="1" dirty="0" smtClean="0"/>
              <a:t>)</a:t>
            </a:r>
            <a:r>
              <a:rPr lang="ru-RU" sz="3600" dirty="0" smtClean="0"/>
              <a:t>.</a:t>
            </a:r>
            <a:endParaRPr lang="ru-RU" sz="3600" dirty="0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smtClean="0"/>
              <a:t>Источник </a:t>
            </a:r>
            <a:r>
              <a:rPr lang="en-US" smtClean="0"/>
              <a:t>https://htmlacademy.ru/tutorial/php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557415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566928" y="749808"/>
            <a:ext cx="11100816" cy="5669280"/>
          </a:xfrm>
        </p:spPr>
        <p:txBody>
          <a:bodyPr>
            <a:normAutofit/>
          </a:bodyPr>
          <a:lstStyle/>
          <a:p>
            <a:pPr algn="l"/>
            <a:r>
              <a:rPr lang="ru-RU" sz="3600" b="1" dirty="0" smtClean="0"/>
              <a:t>Функция </a:t>
            </a:r>
            <a:r>
              <a:rPr lang="ru-RU" sz="3600" b="1" dirty="0" err="1" smtClean="0"/>
              <a:t>insert</a:t>
            </a:r>
            <a:r>
              <a:rPr lang="ru-RU" sz="3600" b="1" dirty="0" smtClean="0"/>
              <a:t> </a:t>
            </a:r>
            <a:r>
              <a:rPr lang="ru-RU" sz="3600" b="1" dirty="0" err="1" smtClean="0"/>
              <a:t>id</a:t>
            </a:r>
            <a:r>
              <a:rPr lang="ru-RU" sz="3600" b="1" dirty="0" smtClean="0"/>
              <a:t>: как получить идентификатор добавленной записи</a:t>
            </a:r>
          </a:p>
          <a:p>
            <a:pPr algn="l"/>
            <a:r>
              <a:rPr lang="ru-RU" sz="3600" dirty="0" smtClean="0"/>
              <a:t>Следующим шагом будет добавление погодной записи для нового города.</a:t>
            </a:r>
            <a:br>
              <a:rPr lang="ru-RU" sz="3600" dirty="0" smtClean="0"/>
            </a:br>
            <a:r>
              <a:rPr lang="ru-RU" sz="3600" dirty="0" smtClean="0"/>
              <a:t>Погодные записи хранит таблица </a:t>
            </a:r>
            <a:r>
              <a:rPr lang="ru-RU" sz="3600" b="1" dirty="0" err="1" smtClean="0"/>
              <a:t>weather_log</a:t>
            </a:r>
            <a:r>
              <a:rPr lang="ru-RU" sz="3600" dirty="0" smtClean="0"/>
              <a:t>, но, чтобы сослаться на город, необходимо знать идентификатор записи из таблицы </a:t>
            </a:r>
            <a:r>
              <a:rPr lang="ru-RU" sz="3600" b="1" dirty="0" err="1" smtClean="0"/>
              <a:t>cities</a:t>
            </a:r>
            <a:r>
              <a:rPr lang="ru-RU" sz="3600" dirty="0" smtClean="0"/>
              <a:t>.</a:t>
            </a:r>
          </a:p>
          <a:p>
            <a:pPr algn="l"/>
            <a:r>
              <a:rPr lang="ru-RU" sz="3600" dirty="0" smtClean="0"/>
              <a:t/>
            </a:r>
            <a:br>
              <a:rPr lang="ru-RU" sz="3600" dirty="0" smtClean="0"/>
            </a:br>
            <a:endParaRPr lang="ru-RU" sz="3600" dirty="0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smtClean="0"/>
              <a:t>Источник </a:t>
            </a:r>
            <a:r>
              <a:rPr lang="en-US" smtClean="0"/>
              <a:t>https://htmlacademy.ru/tutorial/php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79060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566928" y="749808"/>
            <a:ext cx="11100816" cy="5669280"/>
          </a:xfrm>
        </p:spPr>
        <p:txBody>
          <a:bodyPr>
            <a:normAutofit/>
          </a:bodyPr>
          <a:lstStyle/>
          <a:p>
            <a:pPr algn="l"/>
            <a:r>
              <a:rPr lang="ru-RU" sz="3600" dirty="0" smtClean="0"/>
              <a:t>Здесь пригодится функция </a:t>
            </a:r>
            <a:r>
              <a:rPr lang="ru-RU" sz="3600" b="1" dirty="0" err="1" smtClean="0"/>
              <a:t>mysqli_insert_id</a:t>
            </a:r>
            <a:r>
              <a:rPr lang="ru-RU" sz="3600" b="1" dirty="0" smtClean="0"/>
              <a:t>()</a:t>
            </a:r>
            <a:r>
              <a:rPr lang="ru-RU" sz="3600" dirty="0" smtClean="0"/>
              <a:t>.</a:t>
            </a:r>
          </a:p>
          <a:p>
            <a:pPr algn="l"/>
            <a:r>
              <a:rPr lang="ru-RU" sz="3600" dirty="0" smtClean="0"/>
              <a:t>Она принимает единственный аргумент — ресурс соединения, а возвращает идентификатор последней добавленной записи.</a:t>
            </a:r>
            <a:endParaRPr lang="ru-RU" sz="3600" dirty="0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smtClean="0"/>
              <a:t>Источник </a:t>
            </a:r>
            <a:r>
              <a:rPr lang="en-US" smtClean="0"/>
              <a:t>https://htmlacademy.ru/tutorial/php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137805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smtClean="0"/>
              <a:t>Источник </a:t>
            </a:r>
            <a:r>
              <a:rPr lang="en-US" smtClean="0"/>
              <a:t>https://htmlacademy.ru/tutorial/php</a:t>
            </a:r>
            <a:endParaRPr lang="ru-RU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 l="12047" t="5284" r="4733" b="13307"/>
          <a:stretch>
            <a:fillRect/>
          </a:stretch>
        </p:blipFill>
        <p:spPr bwMode="auto">
          <a:xfrm>
            <a:off x="209550" y="123825"/>
            <a:ext cx="11978420" cy="6591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2565981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542925" y="314325"/>
            <a:ext cx="11124819" cy="6104763"/>
          </a:xfrm>
        </p:spPr>
        <p:txBody>
          <a:bodyPr>
            <a:normAutofit fontScale="25000" lnSpcReduction="20000"/>
          </a:bodyPr>
          <a:lstStyle/>
          <a:p>
            <a:pPr algn="l"/>
            <a:r>
              <a:rPr lang="en-US" sz="3600" dirty="0" smtClean="0"/>
              <a:t>$link = </a:t>
            </a:r>
            <a:r>
              <a:rPr lang="en-US" sz="3600" dirty="0" err="1" smtClean="0"/>
              <a:t>mysqli_connect</a:t>
            </a:r>
            <a:r>
              <a:rPr lang="en-US" sz="3600" dirty="0" smtClean="0"/>
              <a:t>("</a:t>
            </a:r>
            <a:r>
              <a:rPr lang="en-US" sz="3600" dirty="0" err="1" smtClean="0"/>
              <a:t>localhost</a:t>
            </a:r>
            <a:r>
              <a:rPr lang="en-US" sz="3600" dirty="0" smtClean="0"/>
              <a:t>", "root", "");</a:t>
            </a:r>
          </a:p>
          <a:p>
            <a:pPr algn="l"/>
            <a:r>
              <a:rPr lang="en-US" sz="3600" dirty="0" smtClean="0"/>
              <a:t>if ($link == false){</a:t>
            </a:r>
          </a:p>
          <a:p>
            <a:pPr algn="l"/>
            <a:r>
              <a:rPr lang="en-US" sz="3600" dirty="0" smtClean="0"/>
              <a:t>    print("</a:t>
            </a:r>
            <a:r>
              <a:rPr lang="ru-RU" sz="3600" dirty="0" smtClean="0"/>
              <a:t>Ошибка: Невозможно подключиться к </a:t>
            </a:r>
            <a:r>
              <a:rPr lang="en-US" sz="3600" dirty="0" err="1" smtClean="0"/>
              <a:t>MySQL</a:t>
            </a:r>
            <a:r>
              <a:rPr lang="en-US" sz="3600" dirty="0" smtClean="0"/>
              <a:t> " . </a:t>
            </a:r>
            <a:r>
              <a:rPr lang="en-US" sz="3600" dirty="0" err="1" smtClean="0"/>
              <a:t>mysqli_connect_error</a:t>
            </a:r>
            <a:r>
              <a:rPr lang="en-US" sz="3600" dirty="0" smtClean="0"/>
              <a:t>());</a:t>
            </a:r>
          </a:p>
          <a:p>
            <a:pPr algn="l"/>
            <a:r>
              <a:rPr lang="en-US" sz="3600" dirty="0" smtClean="0"/>
              <a:t>}</a:t>
            </a:r>
          </a:p>
          <a:p>
            <a:pPr algn="l"/>
            <a:r>
              <a:rPr lang="en-US" sz="3600" dirty="0" smtClean="0"/>
              <a:t>else { </a:t>
            </a:r>
          </a:p>
          <a:p>
            <a:pPr algn="l"/>
            <a:r>
              <a:rPr lang="en-US" sz="3600" dirty="0" smtClean="0"/>
              <a:t>    // </a:t>
            </a:r>
            <a:r>
              <a:rPr lang="ru-RU" sz="3600" dirty="0" smtClean="0"/>
              <a:t>Активизация БД</a:t>
            </a:r>
          </a:p>
          <a:p>
            <a:pPr algn="l"/>
            <a:r>
              <a:rPr lang="ru-RU" sz="3600" dirty="0" smtClean="0"/>
              <a:t>    $</a:t>
            </a:r>
            <a:r>
              <a:rPr lang="en-US" sz="3600" dirty="0" err="1" smtClean="0"/>
              <a:t>sql</a:t>
            </a:r>
            <a:r>
              <a:rPr lang="en-US" sz="3600" dirty="0" smtClean="0"/>
              <a:t> = 'use </a:t>
            </a:r>
            <a:r>
              <a:rPr lang="en-US" sz="3600" dirty="0" err="1" smtClean="0"/>
              <a:t>weather_diary</a:t>
            </a:r>
            <a:r>
              <a:rPr lang="en-US" sz="3600" dirty="0" smtClean="0"/>
              <a:t>';</a:t>
            </a:r>
          </a:p>
          <a:p>
            <a:pPr algn="l"/>
            <a:r>
              <a:rPr lang="en-US" sz="3600" dirty="0" smtClean="0"/>
              <a:t>    $result = </a:t>
            </a:r>
            <a:r>
              <a:rPr lang="en-US" sz="3600" dirty="0" err="1" smtClean="0"/>
              <a:t>mysqli_query</a:t>
            </a:r>
            <a:r>
              <a:rPr lang="en-US" sz="3600" dirty="0" smtClean="0"/>
              <a:t>($link, $</a:t>
            </a:r>
            <a:r>
              <a:rPr lang="en-US" sz="3600" dirty="0" err="1" smtClean="0"/>
              <a:t>sql</a:t>
            </a:r>
            <a:r>
              <a:rPr lang="en-US" sz="3600" dirty="0" smtClean="0"/>
              <a:t>);</a:t>
            </a:r>
          </a:p>
          <a:p>
            <a:pPr algn="l"/>
            <a:r>
              <a:rPr lang="en-US" sz="3600" dirty="0" smtClean="0"/>
              <a:t>    if ($result == false) {</a:t>
            </a:r>
          </a:p>
          <a:p>
            <a:pPr algn="l"/>
            <a:r>
              <a:rPr lang="en-US" sz="3600" dirty="0" smtClean="0"/>
              <a:t>        print("</a:t>
            </a:r>
            <a:r>
              <a:rPr lang="ru-RU" sz="3600" dirty="0" smtClean="0"/>
              <a:t>Произошла ошибка при выполнении запроса");</a:t>
            </a:r>
          </a:p>
          <a:p>
            <a:pPr algn="l"/>
            <a:r>
              <a:rPr lang="ru-RU" sz="3600" dirty="0" smtClean="0"/>
              <a:t>    }</a:t>
            </a:r>
          </a:p>
          <a:p>
            <a:pPr algn="l"/>
            <a:r>
              <a:rPr lang="ru-RU" sz="3600" dirty="0" smtClean="0"/>
              <a:t>   </a:t>
            </a:r>
            <a:r>
              <a:rPr lang="en-US" sz="3600" dirty="0" smtClean="0"/>
              <a:t> $</a:t>
            </a:r>
            <a:r>
              <a:rPr lang="en-US" sz="3600" dirty="0" err="1" smtClean="0"/>
              <a:t>sql</a:t>
            </a:r>
            <a:r>
              <a:rPr lang="en-US" sz="3600" dirty="0" smtClean="0"/>
              <a:t> = "INSERT INTO cities SET name = '</a:t>
            </a:r>
            <a:r>
              <a:rPr lang="en-US" sz="3600" dirty="0" err="1" smtClean="0"/>
              <a:t>Казань</a:t>
            </a:r>
            <a:r>
              <a:rPr lang="en-US" sz="3600" dirty="0" smtClean="0"/>
              <a:t>' ";</a:t>
            </a:r>
            <a:endParaRPr lang="ru-RU" sz="3600" dirty="0" smtClean="0"/>
          </a:p>
          <a:p>
            <a:pPr algn="l"/>
            <a:r>
              <a:rPr lang="ru-RU" sz="3600" dirty="0" smtClean="0"/>
              <a:t>    $</a:t>
            </a:r>
            <a:r>
              <a:rPr lang="en-US" sz="3600" dirty="0" smtClean="0"/>
              <a:t>result = </a:t>
            </a:r>
            <a:r>
              <a:rPr lang="en-US" sz="3600" dirty="0" err="1" smtClean="0"/>
              <a:t>mysqli_query</a:t>
            </a:r>
            <a:r>
              <a:rPr lang="en-US" sz="3600" dirty="0" smtClean="0"/>
              <a:t>($link, $</a:t>
            </a:r>
            <a:r>
              <a:rPr lang="en-US" sz="3600" dirty="0" err="1" smtClean="0"/>
              <a:t>sql</a:t>
            </a:r>
            <a:r>
              <a:rPr lang="en-US" sz="3600" dirty="0" smtClean="0"/>
              <a:t>);</a:t>
            </a:r>
          </a:p>
          <a:p>
            <a:pPr algn="l"/>
            <a:r>
              <a:rPr lang="en-US" sz="3600" dirty="0" smtClean="0"/>
              <a:t>    if ($result == false) {</a:t>
            </a:r>
          </a:p>
          <a:p>
            <a:pPr algn="l"/>
            <a:r>
              <a:rPr lang="ru-RU" sz="3600" dirty="0" smtClean="0"/>
              <a:t>      </a:t>
            </a:r>
            <a:r>
              <a:rPr lang="ru-RU" sz="3600" dirty="0" err="1" smtClean="0"/>
              <a:t>print</a:t>
            </a:r>
            <a:r>
              <a:rPr lang="ru-RU" sz="3600" dirty="0"/>
              <a:t>("Произошла ошибка при выполнении запроса" . "&lt;</a:t>
            </a:r>
            <a:r>
              <a:rPr lang="ru-RU" sz="3600" dirty="0" err="1"/>
              <a:t>br</a:t>
            </a:r>
            <a:r>
              <a:rPr lang="ru-RU" sz="3600" dirty="0"/>
              <a:t>&gt;" . </a:t>
            </a:r>
            <a:r>
              <a:rPr lang="ru-RU" sz="3600" dirty="0" err="1"/>
              <a:t>mysqli_error</a:t>
            </a:r>
            <a:r>
              <a:rPr lang="ru-RU" sz="3600" dirty="0"/>
              <a:t>($</a:t>
            </a:r>
            <a:r>
              <a:rPr lang="ru-RU" sz="3600" dirty="0" err="1"/>
              <a:t>link</a:t>
            </a:r>
            <a:r>
              <a:rPr lang="ru-RU" sz="3600" dirty="0"/>
              <a:t>) . "&lt;</a:t>
            </a:r>
            <a:r>
              <a:rPr lang="ru-RU" sz="3600" dirty="0" err="1"/>
              <a:t>br</a:t>
            </a:r>
            <a:r>
              <a:rPr lang="ru-RU" sz="3600" dirty="0"/>
              <a:t>&gt;");</a:t>
            </a:r>
            <a:endParaRPr lang="ru-RU" sz="3600" dirty="0" smtClean="0"/>
          </a:p>
          <a:p>
            <a:pPr algn="l"/>
            <a:r>
              <a:rPr lang="ru-RU" sz="3600" dirty="0" smtClean="0"/>
              <a:t>    }</a:t>
            </a:r>
          </a:p>
          <a:p>
            <a:pPr algn="l"/>
            <a:r>
              <a:rPr lang="ru-RU" sz="3600" dirty="0" smtClean="0"/>
              <a:t>    </a:t>
            </a:r>
            <a:r>
              <a:rPr lang="en-US" sz="3600" dirty="0" smtClean="0"/>
              <a:t>else {</a:t>
            </a:r>
          </a:p>
          <a:p>
            <a:pPr algn="l"/>
            <a:r>
              <a:rPr lang="en-US" sz="3600" dirty="0" smtClean="0"/>
              <a:t>        $</a:t>
            </a:r>
            <a:r>
              <a:rPr lang="en-US" sz="3600" dirty="0" err="1" smtClean="0"/>
              <a:t>city_id</a:t>
            </a:r>
            <a:r>
              <a:rPr lang="en-US" sz="3600" dirty="0" smtClean="0"/>
              <a:t> = </a:t>
            </a:r>
            <a:r>
              <a:rPr lang="en-US" sz="3600" dirty="0" err="1" smtClean="0"/>
              <a:t>mysqli_insert_id</a:t>
            </a:r>
            <a:r>
              <a:rPr lang="en-US" sz="3600" dirty="0" smtClean="0"/>
              <a:t>($link);</a:t>
            </a:r>
          </a:p>
          <a:p>
            <a:pPr algn="l"/>
            <a:r>
              <a:rPr lang="en-US" sz="3600" dirty="0" smtClean="0"/>
              <a:t>        $</a:t>
            </a:r>
            <a:r>
              <a:rPr lang="en-US" sz="3600" dirty="0" err="1" smtClean="0"/>
              <a:t>sql</a:t>
            </a:r>
            <a:r>
              <a:rPr lang="en-US" sz="3600" dirty="0" smtClean="0"/>
              <a:t> = 'INSERT INTO </a:t>
            </a:r>
            <a:r>
              <a:rPr lang="en-US" sz="3600" dirty="0" err="1" smtClean="0"/>
              <a:t>weather_log</a:t>
            </a:r>
            <a:r>
              <a:rPr lang="en-US" sz="3600" dirty="0" smtClean="0"/>
              <a:t> SET </a:t>
            </a:r>
            <a:r>
              <a:rPr lang="en-US" sz="3600" dirty="0" err="1" smtClean="0"/>
              <a:t>city_id</a:t>
            </a:r>
            <a:r>
              <a:rPr lang="en-US" sz="3600" dirty="0" smtClean="0"/>
              <a:t> = ' . $</a:t>
            </a:r>
            <a:r>
              <a:rPr lang="en-US" sz="3600" dirty="0" err="1" smtClean="0"/>
              <a:t>city_id</a:t>
            </a:r>
            <a:r>
              <a:rPr lang="en-US" sz="3600" dirty="0" smtClean="0"/>
              <a:t> . ', day = "2017-09-03", temperature = 10, cloud = 1';</a:t>
            </a:r>
          </a:p>
          <a:p>
            <a:pPr algn="l"/>
            <a:r>
              <a:rPr lang="en-US" sz="3600" dirty="0" smtClean="0"/>
              <a:t>        $result = </a:t>
            </a:r>
            <a:r>
              <a:rPr lang="en-US" sz="3600" dirty="0" err="1" smtClean="0"/>
              <a:t>mysqli_query</a:t>
            </a:r>
            <a:r>
              <a:rPr lang="en-US" sz="3600" dirty="0" smtClean="0"/>
              <a:t>($link, $</a:t>
            </a:r>
            <a:r>
              <a:rPr lang="en-US" sz="3600" dirty="0" err="1" smtClean="0"/>
              <a:t>sql</a:t>
            </a:r>
            <a:r>
              <a:rPr lang="en-US" sz="3600" dirty="0" smtClean="0"/>
              <a:t>);</a:t>
            </a:r>
          </a:p>
          <a:p>
            <a:pPr algn="l"/>
            <a:r>
              <a:rPr lang="en-US" sz="3600" dirty="0" smtClean="0"/>
              <a:t>        if ($result == false) {</a:t>
            </a:r>
          </a:p>
          <a:p>
            <a:pPr algn="l"/>
            <a:r>
              <a:rPr lang="en-US" sz="3600" dirty="0" smtClean="0"/>
              <a:t>            print("</a:t>
            </a:r>
            <a:r>
              <a:rPr lang="ru-RU" sz="3600" dirty="0" smtClean="0"/>
              <a:t>Произошла ошибка при выполнении запроса");</a:t>
            </a:r>
          </a:p>
          <a:p>
            <a:pPr algn="l"/>
            <a:r>
              <a:rPr lang="ru-RU" sz="3600" dirty="0" smtClean="0"/>
              <a:t>        }</a:t>
            </a:r>
          </a:p>
          <a:p>
            <a:pPr algn="l"/>
            <a:r>
              <a:rPr lang="ru-RU" sz="3600" dirty="0" smtClean="0"/>
              <a:t>    }</a:t>
            </a:r>
          </a:p>
          <a:p>
            <a:pPr algn="l"/>
            <a:r>
              <a:rPr lang="ru-RU" sz="3600" dirty="0" smtClean="0"/>
              <a:t>}</a:t>
            </a:r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smtClean="0"/>
              <a:t>Источник </a:t>
            </a:r>
            <a:r>
              <a:rPr lang="en-US" smtClean="0"/>
              <a:t>https://htmlacademy.ru/tutorial/php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482181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519303" y="587882"/>
            <a:ext cx="11100816" cy="5479543"/>
          </a:xfrm>
        </p:spPr>
        <p:txBody>
          <a:bodyPr>
            <a:normAutofit/>
          </a:bodyPr>
          <a:lstStyle/>
          <a:p>
            <a:pPr algn="l"/>
            <a:r>
              <a:rPr lang="ru-RU" sz="3600" b="1" dirty="0" smtClean="0"/>
              <a:t>Чтение записей</a:t>
            </a:r>
          </a:p>
          <a:p>
            <a:pPr algn="l"/>
            <a:r>
              <a:rPr lang="ru-RU" sz="3600" dirty="0" smtClean="0"/>
              <a:t>Другая частая операция при работе с базами данных в PHP — это получение записей из таблиц (запросы типа </a:t>
            </a:r>
            <a:r>
              <a:rPr lang="ru-RU" sz="3600" b="1" dirty="0" smtClean="0"/>
              <a:t>SELECT</a:t>
            </a:r>
            <a:r>
              <a:rPr lang="ru-RU" sz="3600" dirty="0" smtClean="0"/>
              <a:t>).</a:t>
            </a:r>
          </a:p>
          <a:p>
            <a:pPr algn="l"/>
            <a:r>
              <a:rPr lang="ru-RU" sz="3600" dirty="0" smtClean="0"/>
              <a:t>Составим SQL-запрос, который будет использовать </a:t>
            </a:r>
            <a:r>
              <a:rPr lang="ru-RU" sz="3600" b="1" dirty="0" smtClean="0"/>
              <a:t>SELECT</a:t>
            </a:r>
            <a:r>
              <a:rPr lang="ru-RU" sz="3600" dirty="0" smtClean="0"/>
              <a:t> выражение. </a:t>
            </a:r>
          </a:p>
          <a:p>
            <a:pPr algn="l"/>
            <a:r>
              <a:rPr lang="ru-RU" sz="3600" dirty="0" smtClean="0"/>
              <a:t>Затем выполним этот запрос с помощью функции </a:t>
            </a:r>
            <a:r>
              <a:rPr lang="ru-RU" sz="3600" b="1" dirty="0" err="1" smtClean="0"/>
              <a:t>mysqli_query</a:t>
            </a:r>
            <a:r>
              <a:rPr lang="ru-RU" sz="3600" b="1" dirty="0" smtClean="0"/>
              <a:t>(), </a:t>
            </a:r>
            <a:r>
              <a:rPr lang="ru-RU" sz="3600" dirty="0" smtClean="0"/>
              <a:t>чтобы получить данные из таблицы.</a:t>
            </a:r>
          </a:p>
          <a:p>
            <a:pPr algn="l"/>
            <a:endParaRPr lang="ru-RU" sz="3600" dirty="0" smtClean="0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smtClean="0"/>
              <a:t>Источник </a:t>
            </a:r>
            <a:r>
              <a:rPr lang="en-US" smtClean="0"/>
              <a:t>https://htmlacademy.ru/tutorial/php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94161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smtClean="0"/>
              <a:t>Источник </a:t>
            </a:r>
            <a:r>
              <a:rPr lang="en-US" smtClean="0"/>
              <a:t>https://htmlacademy.ru/tutorial/php</a:t>
            </a:r>
            <a:endParaRPr lang="ru-RU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/>
          <a:srcRect l="31436" t="13135" r="22264" b="52014"/>
          <a:stretch>
            <a:fillRect/>
          </a:stretch>
        </p:blipFill>
        <p:spPr bwMode="auto">
          <a:xfrm>
            <a:off x="1095375" y="942975"/>
            <a:ext cx="10168296" cy="430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6938472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566928" y="749808"/>
            <a:ext cx="11100816" cy="5669280"/>
          </a:xfrm>
        </p:spPr>
        <p:txBody>
          <a:bodyPr>
            <a:normAutofit fontScale="47500" lnSpcReduction="20000"/>
          </a:bodyPr>
          <a:lstStyle/>
          <a:p>
            <a:pPr algn="l"/>
            <a:r>
              <a:rPr lang="en-US" sz="3600" dirty="0"/>
              <a:t>&lt;?</a:t>
            </a:r>
            <a:r>
              <a:rPr lang="en-US" sz="3600" dirty="0" err="1"/>
              <a:t>php</a:t>
            </a:r>
            <a:endParaRPr lang="en-US" sz="3600" dirty="0"/>
          </a:p>
          <a:p>
            <a:pPr algn="l"/>
            <a:r>
              <a:rPr lang="en-US" sz="3600" dirty="0"/>
              <a:t>$link = </a:t>
            </a:r>
            <a:r>
              <a:rPr lang="en-US" sz="3600" dirty="0" err="1"/>
              <a:t>mysqli_connect</a:t>
            </a:r>
            <a:r>
              <a:rPr lang="en-US" sz="3600" dirty="0"/>
              <a:t>("</a:t>
            </a:r>
            <a:r>
              <a:rPr lang="en-US" sz="3600" dirty="0" err="1"/>
              <a:t>localhost</a:t>
            </a:r>
            <a:r>
              <a:rPr lang="en-US" sz="3600" dirty="0"/>
              <a:t>", "root", "", "</a:t>
            </a:r>
            <a:r>
              <a:rPr lang="en-US" sz="3600" dirty="0" err="1"/>
              <a:t>weather_diary</a:t>
            </a:r>
            <a:r>
              <a:rPr lang="en-US" sz="3600" dirty="0"/>
              <a:t>");</a:t>
            </a:r>
          </a:p>
          <a:p>
            <a:pPr algn="l"/>
            <a:r>
              <a:rPr lang="en-US" sz="3600" dirty="0"/>
              <a:t>if ($link == false){</a:t>
            </a:r>
          </a:p>
          <a:p>
            <a:pPr algn="l"/>
            <a:r>
              <a:rPr lang="en-US" sz="3600" dirty="0"/>
              <a:t>    print("</a:t>
            </a:r>
            <a:r>
              <a:rPr lang="ru-RU" sz="3600" dirty="0"/>
              <a:t>Ошибка: Невозможно подключиться к </a:t>
            </a:r>
            <a:r>
              <a:rPr lang="en-US" sz="3600" dirty="0"/>
              <a:t>MySQL". "&lt;</a:t>
            </a:r>
            <a:r>
              <a:rPr lang="en-US" sz="3600" dirty="0" err="1"/>
              <a:t>br</a:t>
            </a:r>
            <a:r>
              <a:rPr lang="en-US" sz="3600" dirty="0"/>
              <a:t>&gt;" . </a:t>
            </a:r>
            <a:r>
              <a:rPr lang="en-US" sz="3600" dirty="0" err="1"/>
              <a:t>mysqli_connect_error</a:t>
            </a:r>
            <a:r>
              <a:rPr lang="en-US" sz="3600" dirty="0"/>
              <a:t>()."&lt;</a:t>
            </a:r>
            <a:r>
              <a:rPr lang="en-US" sz="3600" dirty="0" err="1"/>
              <a:t>br</a:t>
            </a:r>
            <a:r>
              <a:rPr lang="en-US" sz="3600" dirty="0"/>
              <a:t>&gt;");</a:t>
            </a:r>
          </a:p>
          <a:p>
            <a:pPr algn="l"/>
            <a:r>
              <a:rPr lang="en-US" sz="3600" dirty="0"/>
              <a:t>}</a:t>
            </a:r>
          </a:p>
          <a:p>
            <a:pPr algn="l"/>
            <a:r>
              <a:rPr lang="en-US" sz="3600" dirty="0"/>
              <a:t>else { </a:t>
            </a:r>
          </a:p>
          <a:p>
            <a:pPr algn="l"/>
            <a:r>
              <a:rPr lang="en-US" sz="3600" dirty="0"/>
              <a:t>    $</a:t>
            </a:r>
            <a:r>
              <a:rPr lang="en-US" sz="3600" dirty="0" err="1"/>
              <a:t>sql</a:t>
            </a:r>
            <a:r>
              <a:rPr lang="en-US" sz="3600" dirty="0"/>
              <a:t> = 'SELECT id, name FROM cities';</a:t>
            </a:r>
          </a:p>
          <a:p>
            <a:pPr algn="l"/>
            <a:r>
              <a:rPr lang="en-US" sz="3600" dirty="0"/>
              <a:t>    $result = </a:t>
            </a:r>
            <a:r>
              <a:rPr lang="en-US" sz="3600" dirty="0" err="1"/>
              <a:t>mysqli_query</a:t>
            </a:r>
            <a:r>
              <a:rPr lang="en-US" sz="3600" dirty="0"/>
              <a:t>($link, $</a:t>
            </a:r>
            <a:r>
              <a:rPr lang="en-US" sz="3600" dirty="0" err="1"/>
              <a:t>sql</a:t>
            </a:r>
            <a:r>
              <a:rPr lang="en-US" sz="3600" dirty="0"/>
              <a:t>);    </a:t>
            </a:r>
          </a:p>
          <a:p>
            <a:pPr algn="l"/>
            <a:r>
              <a:rPr lang="en-US" sz="3600" dirty="0"/>
              <a:t>    if ($result == false) {</a:t>
            </a:r>
          </a:p>
          <a:p>
            <a:pPr algn="l"/>
            <a:r>
              <a:rPr lang="en-US" sz="3600" dirty="0"/>
              <a:t>        print("</a:t>
            </a:r>
            <a:r>
              <a:rPr lang="ru-RU" sz="3600" dirty="0"/>
              <a:t>Произошла ошибка при выполнении запроса" . "&lt;</a:t>
            </a:r>
            <a:r>
              <a:rPr lang="en-US" sz="3600" dirty="0" err="1"/>
              <a:t>br</a:t>
            </a:r>
            <a:r>
              <a:rPr lang="en-US" sz="3600" dirty="0"/>
              <a:t>&gt;" . mysqli_error($link) . "&lt;</a:t>
            </a:r>
            <a:r>
              <a:rPr lang="en-US" sz="3600" dirty="0" err="1"/>
              <a:t>br</a:t>
            </a:r>
            <a:r>
              <a:rPr lang="en-US" sz="3600" dirty="0"/>
              <a:t>&gt;");</a:t>
            </a:r>
          </a:p>
          <a:p>
            <a:pPr algn="l"/>
            <a:r>
              <a:rPr lang="en-US" sz="3600" dirty="0"/>
              <a:t>    }</a:t>
            </a:r>
          </a:p>
          <a:p>
            <a:pPr algn="l"/>
            <a:r>
              <a:rPr lang="en-US" sz="3600" dirty="0"/>
              <a:t>    else {</a:t>
            </a:r>
          </a:p>
          <a:p>
            <a:pPr algn="l"/>
            <a:r>
              <a:rPr lang="en-US" sz="3600" dirty="0"/>
              <a:t>        while ($row = </a:t>
            </a:r>
            <a:r>
              <a:rPr lang="en-US" sz="3600" dirty="0" err="1"/>
              <a:t>mysqli_fetch_array</a:t>
            </a:r>
            <a:r>
              <a:rPr lang="en-US" sz="3600" dirty="0"/>
              <a:t>($result)) {</a:t>
            </a:r>
          </a:p>
          <a:p>
            <a:pPr algn="l"/>
            <a:r>
              <a:rPr lang="en-US" sz="3600" dirty="0"/>
              <a:t>            print("</a:t>
            </a:r>
            <a:r>
              <a:rPr lang="ru-RU" sz="3600" dirty="0"/>
              <a:t>Город: " . $</a:t>
            </a:r>
            <a:r>
              <a:rPr lang="en-US" sz="3600" dirty="0"/>
              <a:t>row['name'] . "; </a:t>
            </a:r>
            <a:r>
              <a:rPr lang="ru-RU" sz="3600" dirty="0"/>
              <a:t>Идентификатор: </a:t>
            </a:r>
            <a:r>
              <a:rPr lang="ru-RU" sz="3600" dirty="0" smtClean="0"/>
              <a:t>" </a:t>
            </a:r>
            <a:r>
              <a:rPr lang="ru-RU" sz="3600" dirty="0"/>
              <a:t>. $</a:t>
            </a:r>
            <a:r>
              <a:rPr lang="en-US" sz="3600" dirty="0"/>
              <a:t>row['id'] . "&lt;</a:t>
            </a:r>
            <a:r>
              <a:rPr lang="en-US" sz="3600" dirty="0" err="1"/>
              <a:t>br</a:t>
            </a:r>
            <a:r>
              <a:rPr lang="en-US" sz="3600" dirty="0"/>
              <a:t>&gt;");</a:t>
            </a:r>
          </a:p>
          <a:p>
            <a:pPr algn="l"/>
            <a:r>
              <a:rPr lang="en-US" sz="3600" dirty="0"/>
              <a:t>        }</a:t>
            </a:r>
          </a:p>
          <a:p>
            <a:pPr algn="l"/>
            <a:r>
              <a:rPr lang="en-US" sz="3600" dirty="0"/>
              <a:t>    }   </a:t>
            </a:r>
          </a:p>
          <a:p>
            <a:pPr algn="l"/>
            <a:r>
              <a:rPr lang="en-US" sz="3600" dirty="0"/>
              <a:t>}</a:t>
            </a:r>
          </a:p>
          <a:p>
            <a:pPr algn="l"/>
            <a:r>
              <a:rPr lang="en-US" sz="3600" dirty="0"/>
              <a:t>?&gt;</a:t>
            </a:r>
            <a:endParaRPr lang="ru-RU" sz="3600" dirty="0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smtClean="0"/>
              <a:t>Источник </a:t>
            </a:r>
            <a:r>
              <a:rPr lang="en-US" smtClean="0"/>
              <a:t>https://htmlacademy.ru/tutorial/php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857689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566928" y="749808"/>
            <a:ext cx="11100816" cy="5669280"/>
          </a:xfrm>
        </p:spPr>
        <p:txBody>
          <a:bodyPr>
            <a:normAutofit/>
          </a:bodyPr>
          <a:lstStyle/>
          <a:p>
            <a:pPr algn="l"/>
            <a:r>
              <a:rPr lang="ru-RU" sz="3600" dirty="0"/>
              <a:t>В примере выше результат выполнения функции </a:t>
            </a:r>
            <a:r>
              <a:rPr lang="ru-RU" sz="3600" b="1" dirty="0" err="1"/>
              <a:t>mysqli_query</a:t>
            </a:r>
            <a:r>
              <a:rPr lang="ru-RU" sz="3600" b="1" dirty="0"/>
              <a:t>()</a:t>
            </a:r>
            <a:r>
              <a:rPr lang="ru-RU" sz="3600" dirty="0"/>
              <a:t> сохранён в переменной </a:t>
            </a:r>
            <a:r>
              <a:rPr lang="ru-RU" sz="3600" b="1" dirty="0"/>
              <a:t>$</a:t>
            </a:r>
            <a:r>
              <a:rPr lang="ru-RU" sz="3600" b="1" dirty="0" err="1"/>
              <a:t>result</a:t>
            </a:r>
            <a:r>
              <a:rPr lang="ru-RU" sz="3600" dirty="0"/>
              <a:t>.</a:t>
            </a:r>
          </a:p>
          <a:p>
            <a:pPr algn="l"/>
            <a:r>
              <a:rPr lang="ru-RU" sz="3600" dirty="0"/>
              <a:t>Важно понимать, что в этой переменной находятся не данные из таблицы, а специальный тип данных — так называемая </a:t>
            </a:r>
            <a:r>
              <a:rPr lang="ru-RU" sz="3600" b="1" dirty="0"/>
              <a:t>ссылка на результаты запроса</a:t>
            </a:r>
            <a:r>
              <a:rPr lang="ru-RU" sz="3600" dirty="0"/>
              <a:t>.</a:t>
            </a:r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smtClean="0"/>
              <a:t>Источник </a:t>
            </a:r>
            <a:r>
              <a:rPr lang="en-US" smtClean="0"/>
              <a:t>https://htmlacademy.ru/tutorial/php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913427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566928" y="749808"/>
            <a:ext cx="11100816" cy="5669280"/>
          </a:xfrm>
        </p:spPr>
        <p:txBody>
          <a:bodyPr>
            <a:normAutofit/>
          </a:bodyPr>
          <a:lstStyle/>
          <a:p>
            <a:pPr algn="l"/>
            <a:r>
              <a:rPr lang="ru-RU" sz="3600" dirty="0"/>
              <a:t>Чтобы получить действительные данные, то есть записи из таблицы, следует использовать другую функцию — </a:t>
            </a:r>
            <a:r>
              <a:rPr lang="ru-RU" sz="3600" b="1" dirty="0" err="1"/>
              <a:t>mysqli_fetch_array</a:t>
            </a:r>
            <a:r>
              <a:rPr lang="ru-RU" sz="3600" b="1" dirty="0"/>
              <a:t>() </a:t>
            </a:r>
            <a:r>
              <a:rPr lang="ru-RU" sz="3600" dirty="0"/>
              <a:t>— и передать ей единственным параметром эту самую </a:t>
            </a:r>
            <a:r>
              <a:rPr lang="ru-RU" sz="3600" b="1" dirty="0"/>
              <a:t>ссылку</a:t>
            </a:r>
            <a:r>
              <a:rPr lang="ru-RU" sz="3600" dirty="0"/>
              <a:t>.</a:t>
            </a:r>
          </a:p>
          <a:p>
            <a:pPr algn="l"/>
            <a:r>
              <a:rPr lang="ru-RU" sz="3600" dirty="0"/>
              <a:t>Теперь каждый вызов функции </a:t>
            </a:r>
            <a:r>
              <a:rPr lang="ru-RU" sz="3600" b="1" dirty="0" err="1"/>
              <a:t>mysqli_fetch_array</a:t>
            </a:r>
            <a:r>
              <a:rPr lang="ru-RU" sz="3600" b="1" dirty="0"/>
              <a:t>()</a:t>
            </a:r>
            <a:r>
              <a:rPr lang="ru-RU" sz="3600" dirty="0"/>
              <a:t> будет </a:t>
            </a:r>
            <a:r>
              <a:rPr lang="ru-RU" sz="3600" b="1" dirty="0"/>
              <a:t>возвращать</a:t>
            </a:r>
            <a:r>
              <a:rPr lang="ru-RU" sz="3600" dirty="0"/>
              <a:t> следующую </a:t>
            </a:r>
            <a:r>
              <a:rPr lang="ru-RU" sz="3600" b="1" dirty="0"/>
              <a:t>запись</a:t>
            </a:r>
            <a:r>
              <a:rPr lang="ru-RU" sz="3600" dirty="0"/>
              <a:t> </a:t>
            </a:r>
            <a:r>
              <a:rPr lang="ru-RU" sz="3600" b="1" dirty="0"/>
              <a:t>из</a:t>
            </a:r>
            <a:r>
              <a:rPr lang="ru-RU" sz="3600" dirty="0"/>
              <a:t> всего результирующего </a:t>
            </a:r>
            <a:r>
              <a:rPr lang="ru-RU" sz="3600" b="1" dirty="0"/>
              <a:t>набора</a:t>
            </a:r>
            <a:r>
              <a:rPr lang="ru-RU" sz="3600" dirty="0"/>
              <a:t> </a:t>
            </a:r>
            <a:r>
              <a:rPr lang="ru-RU" sz="3600" b="1" dirty="0"/>
              <a:t>записей</a:t>
            </a:r>
            <a:r>
              <a:rPr lang="ru-RU" sz="3600" dirty="0"/>
              <a:t> в виде </a:t>
            </a:r>
            <a:r>
              <a:rPr lang="ru-RU" sz="3600" b="1" dirty="0"/>
              <a:t>ассоциативного массива</a:t>
            </a:r>
            <a:r>
              <a:rPr lang="ru-RU" sz="3600" dirty="0"/>
              <a:t>.</a:t>
            </a:r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smtClean="0"/>
              <a:t>Источник </a:t>
            </a:r>
            <a:r>
              <a:rPr lang="en-US" smtClean="0"/>
              <a:t>https://htmlacademy.ru/tutorial/php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304816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566928" y="749808"/>
            <a:ext cx="11100816" cy="5669280"/>
          </a:xfrm>
        </p:spPr>
        <p:txBody>
          <a:bodyPr>
            <a:normAutofit/>
          </a:bodyPr>
          <a:lstStyle/>
          <a:p>
            <a:pPr algn="l"/>
            <a:r>
              <a:rPr lang="ru-RU" sz="3600" dirty="0"/>
              <a:t>Цикл </a:t>
            </a:r>
            <a:r>
              <a:rPr lang="ru-RU" sz="3600" b="1" dirty="0" err="1"/>
              <a:t>while</a:t>
            </a:r>
            <a:r>
              <a:rPr lang="ru-RU" sz="3600" dirty="0"/>
              <a:t> здесь используется для «прохода» по всем записям из полученного набора записей.</a:t>
            </a:r>
          </a:p>
          <a:p>
            <a:pPr algn="l"/>
            <a:r>
              <a:rPr lang="ru-RU" sz="3600" dirty="0"/>
              <a:t>Значение поля каждой записи можно узнать просто обратившись </a:t>
            </a:r>
            <a:r>
              <a:rPr lang="ru-RU" sz="3600" b="1" dirty="0"/>
              <a:t>по ключу </a:t>
            </a:r>
            <a:r>
              <a:rPr lang="ru-RU" sz="3600" dirty="0"/>
              <a:t>этого ассоциативного массива.</a:t>
            </a:r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smtClean="0"/>
              <a:t>Источник </a:t>
            </a:r>
            <a:r>
              <a:rPr lang="en-US" smtClean="0"/>
              <a:t>https://htmlacademy.ru/tutorial/php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940128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566928" y="749808"/>
            <a:ext cx="11100816" cy="5669280"/>
          </a:xfrm>
        </p:spPr>
        <p:txBody>
          <a:bodyPr>
            <a:normAutofit/>
          </a:bodyPr>
          <a:lstStyle/>
          <a:p>
            <a:r>
              <a:rPr lang="ru-RU" sz="3600" b="1" dirty="0"/>
              <a:t>Как получить сразу все записи в виде двумерного </a:t>
            </a:r>
            <a:r>
              <a:rPr lang="ru-RU" sz="3600" b="1" dirty="0" smtClean="0"/>
              <a:t>массива</a:t>
            </a:r>
          </a:p>
          <a:p>
            <a:pPr algn="l"/>
            <a:r>
              <a:rPr lang="ru-RU" sz="3600" dirty="0"/>
              <a:t>Иногда бывает удобно после запроса на чтение не вызывать в цикле </a:t>
            </a:r>
            <a:r>
              <a:rPr lang="ru-RU" sz="3600" b="1" dirty="0" err="1" smtClean="0"/>
              <a:t>mysqli_fetch_array</a:t>
            </a:r>
            <a:r>
              <a:rPr lang="ru-RU" sz="3600" dirty="0" smtClean="0"/>
              <a:t> для </a:t>
            </a:r>
            <a:r>
              <a:rPr lang="ru-RU" sz="3600" dirty="0"/>
              <a:t>извлечения очередной записи по порядку, а получить их сразу все одним вызовом. PHP так тоже умеет. </a:t>
            </a:r>
            <a:endParaRPr lang="ru-RU" sz="3600" dirty="0" smtClean="0"/>
          </a:p>
          <a:p>
            <a:pPr algn="l"/>
            <a:r>
              <a:rPr lang="ru-RU" sz="3600" dirty="0" smtClean="0"/>
              <a:t>Функция </a:t>
            </a:r>
            <a:r>
              <a:rPr lang="ru-RU" sz="3600" b="1" dirty="0" err="1"/>
              <a:t>mysqli_fetch_all</a:t>
            </a:r>
            <a:r>
              <a:rPr lang="ru-RU" sz="3600" b="1" dirty="0"/>
              <a:t>($</a:t>
            </a:r>
            <a:r>
              <a:rPr lang="ru-RU" sz="3600" b="1" dirty="0" err="1" smtClean="0"/>
              <a:t>res</a:t>
            </a:r>
            <a:r>
              <a:rPr lang="en-US" sz="3600" b="1" dirty="0" err="1" smtClean="0"/>
              <a:t>ult</a:t>
            </a:r>
            <a:r>
              <a:rPr lang="ru-RU" sz="3600" b="1" dirty="0" smtClean="0"/>
              <a:t>, </a:t>
            </a:r>
            <a:r>
              <a:rPr lang="ru-RU" sz="3600" b="1" dirty="0"/>
              <a:t>MYSQLI_ASSOC)</a:t>
            </a:r>
            <a:r>
              <a:rPr lang="ru-RU" sz="3600" dirty="0"/>
              <a:t> вернёт двумерный массив со всеми записями из результата последнего запроса.</a:t>
            </a:r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smtClean="0"/>
              <a:t>Источник </a:t>
            </a:r>
            <a:r>
              <a:rPr lang="en-US" smtClean="0"/>
              <a:t>https://htmlacademy.ru/tutorial/php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165940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507492" y="419608"/>
            <a:ext cx="11100816" cy="990092"/>
          </a:xfrm>
        </p:spPr>
        <p:txBody>
          <a:bodyPr>
            <a:normAutofit lnSpcReduction="10000"/>
          </a:bodyPr>
          <a:lstStyle/>
          <a:p>
            <a:pPr algn="l"/>
            <a:r>
              <a:rPr lang="ru-RU" sz="3600" dirty="0"/>
              <a:t>Перепишем пример с показом существующих городов с её использованием:</a:t>
            </a:r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smtClean="0"/>
              <a:t>Источник </a:t>
            </a:r>
            <a:r>
              <a:rPr lang="en-US" smtClean="0"/>
              <a:t>https://htmlacademy.ru/tutorial/php</a:t>
            </a:r>
            <a:endParaRPr lang="ru-RU"/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 rotWithShape="1">
          <a:blip r:embed="rId2"/>
          <a:srcRect l="25977" t="34440" r="4294" b="32595"/>
          <a:stretch/>
        </p:blipFill>
        <p:spPr>
          <a:xfrm>
            <a:off x="545592" y="1574800"/>
            <a:ext cx="11259812" cy="426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06150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566928" y="749808"/>
            <a:ext cx="11100816" cy="5669280"/>
          </a:xfrm>
        </p:spPr>
        <p:txBody>
          <a:bodyPr>
            <a:normAutofit fontScale="40000" lnSpcReduction="20000"/>
          </a:bodyPr>
          <a:lstStyle/>
          <a:p>
            <a:pPr algn="l"/>
            <a:r>
              <a:rPr lang="en-US" sz="3600" dirty="0" smtClean="0"/>
              <a:t>&lt;?</a:t>
            </a:r>
            <a:r>
              <a:rPr lang="en-US" sz="3600" dirty="0" err="1" smtClean="0"/>
              <a:t>php</a:t>
            </a:r>
            <a:endParaRPr lang="en-US" sz="3600" dirty="0" smtClean="0"/>
          </a:p>
          <a:p>
            <a:pPr algn="l"/>
            <a:r>
              <a:rPr lang="en-US" sz="3600" dirty="0" smtClean="0"/>
              <a:t>$link = </a:t>
            </a:r>
            <a:r>
              <a:rPr lang="en-US" sz="3600" dirty="0" err="1" smtClean="0"/>
              <a:t>mysqli_connect</a:t>
            </a:r>
            <a:r>
              <a:rPr lang="en-US" sz="3600" dirty="0" smtClean="0"/>
              <a:t>("</a:t>
            </a:r>
            <a:r>
              <a:rPr lang="en-US" sz="3600" dirty="0" err="1" smtClean="0"/>
              <a:t>localhost</a:t>
            </a:r>
            <a:r>
              <a:rPr lang="en-US" sz="3600" dirty="0" smtClean="0"/>
              <a:t>", "root", "", "</a:t>
            </a:r>
            <a:r>
              <a:rPr lang="en-US" sz="3600" dirty="0" err="1" smtClean="0"/>
              <a:t>weather_diary</a:t>
            </a:r>
            <a:r>
              <a:rPr lang="en-US" sz="3600" dirty="0" smtClean="0"/>
              <a:t>");</a:t>
            </a:r>
          </a:p>
          <a:p>
            <a:pPr algn="l"/>
            <a:r>
              <a:rPr lang="en-US" sz="3600" dirty="0" smtClean="0"/>
              <a:t>if ($link == false){</a:t>
            </a:r>
          </a:p>
          <a:p>
            <a:pPr algn="l"/>
            <a:r>
              <a:rPr lang="en-US" sz="3600" dirty="0" smtClean="0"/>
              <a:t>    print("</a:t>
            </a:r>
            <a:r>
              <a:rPr lang="ru-RU" sz="3600" dirty="0" smtClean="0"/>
              <a:t>Ошибка: Невозможно подключиться к </a:t>
            </a:r>
            <a:r>
              <a:rPr lang="en-US" sz="3600" dirty="0" smtClean="0"/>
              <a:t>MySQL". "&lt;</a:t>
            </a:r>
            <a:r>
              <a:rPr lang="en-US" sz="3600" dirty="0" err="1" smtClean="0"/>
              <a:t>br</a:t>
            </a:r>
            <a:r>
              <a:rPr lang="en-US" sz="3600" dirty="0" smtClean="0"/>
              <a:t>&gt;" . </a:t>
            </a:r>
            <a:r>
              <a:rPr lang="en-US" sz="3600" dirty="0" err="1" smtClean="0"/>
              <a:t>mysqli_connect_error</a:t>
            </a:r>
            <a:r>
              <a:rPr lang="en-US" sz="3600" dirty="0" smtClean="0"/>
              <a:t>()."&lt;</a:t>
            </a:r>
            <a:r>
              <a:rPr lang="en-US" sz="3600" dirty="0" err="1" smtClean="0"/>
              <a:t>br</a:t>
            </a:r>
            <a:r>
              <a:rPr lang="en-US" sz="3600" dirty="0" smtClean="0"/>
              <a:t>&gt;");</a:t>
            </a:r>
          </a:p>
          <a:p>
            <a:pPr algn="l"/>
            <a:r>
              <a:rPr lang="en-US" sz="3600" dirty="0" smtClean="0"/>
              <a:t>}</a:t>
            </a:r>
          </a:p>
          <a:p>
            <a:pPr algn="l"/>
            <a:r>
              <a:rPr lang="en-US" sz="3600" dirty="0" smtClean="0"/>
              <a:t>else { </a:t>
            </a:r>
          </a:p>
          <a:p>
            <a:pPr algn="l"/>
            <a:r>
              <a:rPr lang="en-US" sz="3600" dirty="0" smtClean="0"/>
              <a:t>    $</a:t>
            </a:r>
            <a:r>
              <a:rPr lang="en-US" sz="3600" dirty="0" err="1" smtClean="0"/>
              <a:t>sql</a:t>
            </a:r>
            <a:r>
              <a:rPr lang="en-US" sz="3600" dirty="0" smtClean="0"/>
              <a:t> = 'SELECT id, name FROM cities';</a:t>
            </a:r>
          </a:p>
          <a:p>
            <a:pPr algn="l"/>
            <a:r>
              <a:rPr lang="en-US" sz="3600" dirty="0" smtClean="0"/>
              <a:t>    $result = </a:t>
            </a:r>
            <a:r>
              <a:rPr lang="en-US" sz="3600" dirty="0" err="1" smtClean="0"/>
              <a:t>mysqli_query</a:t>
            </a:r>
            <a:r>
              <a:rPr lang="en-US" sz="3600" dirty="0" smtClean="0"/>
              <a:t>($link, $</a:t>
            </a:r>
            <a:r>
              <a:rPr lang="en-US" sz="3600" dirty="0" err="1" smtClean="0"/>
              <a:t>sql</a:t>
            </a:r>
            <a:r>
              <a:rPr lang="en-US" sz="3600" dirty="0" smtClean="0"/>
              <a:t>);    </a:t>
            </a:r>
          </a:p>
          <a:p>
            <a:pPr algn="l"/>
            <a:r>
              <a:rPr lang="en-US" sz="3600" dirty="0" smtClean="0"/>
              <a:t>    if ($result == false) {</a:t>
            </a:r>
          </a:p>
          <a:p>
            <a:pPr algn="l"/>
            <a:r>
              <a:rPr lang="en-US" sz="3600" dirty="0" smtClean="0"/>
              <a:t>        print("</a:t>
            </a:r>
            <a:r>
              <a:rPr lang="ru-RU" sz="3600" dirty="0" smtClean="0"/>
              <a:t>Произошла ошибка при выполнении запроса" . "&lt;</a:t>
            </a:r>
            <a:r>
              <a:rPr lang="en-US" sz="3600" dirty="0" err="1" smtClean="0"/>
              <a:t>br</a:t>
            </a:r>
            <a:r>
              <a:rPr lang="en-US" sz="3600" dirty="0" smtClean="0"/>
              <a:t>&gt;" . mysqli_error($link) . "&lt;</a:t>
            </a:r>
            <a:r>
              <a:rPr lang="en-US" sz="3600" dirty="0" err="1" smtClean="0"/>
              <a:t>br</a:t>
            </a:r>
            <a:r>
              <a:rPr lang="en-US" sz="3600" dirty="0" smtClean="0"/>
              <a:t>&gt;");</a:t>
            </a:r>
          </a:p>
          <a:p>
            <a:pPr algn="l"/>
            <a:r>
              <a:rPr lang="en-US" sz="3600" dirty="0" smtClean="0"/>
              <a:t>    }</a:t>
            </a:r>
          </a:p>
          <a:p>
            <a:pPr algn="l"/>
            <a:r>
              <a:rPr lang="en-US" sz="3600" dirty="0" smtClean="0"/>
              <a:t>    else {</a:t>
            </a:r>
          </a:p>
          <a:p>
            <a:pPr algn="l"/>
            <a:r>
              <a:rPr lang="en-US" sz="3600" dirty="0" smtClean="0"/>
              <a:t>        </a:t>
            </a:r>
            <a:r>
              <a:rPr lang="en-US" sz="3600" b="1" dirty="0" smtClean="0"/>
              <a:t>$rows = </a:t>
            </a:r>
            <a:r>
              <a:rPr lang="en-US" sz="3600" b="1" dirty="0" err="1" smtClean="0"/>
              <a:t>mysqli_fetch_all</a:t>
            </a:r>
            <a:r>
              <a:rPr lang="en-US" sz="3600" b="1" dirty="0" smtClean="0"/>
              <a:t>($result, MYSQLI_ASSOC);</a:t>
            </a:r>
          </a:p>
          <a:p>
            <a:pPr algn="l"/>
            <a:r>
              <a:rPr lang="en-US" sz="3600" b="1" dirty="0" smtClean="0"/>
              <a:t>        </a:t>
            </a:r>
            <a:r>
              <a:rPr lang="en-US" sz="3600" b="1" dirty="0" err="1" smtClean="0"/>
              <a:t>foreach</a:t>
            </a:r>
            <a:r>
              <a:rPr lang="en-US" sz="3600" b="1" dirty="0" smtClean="0"/>
              <a:t> ($rows as $row){</a:t>
            </a:r>
          </a:p>
          <a:p>
            <a:pPr algn="l"/>
            <a:r>
              <a:rPr lang="en-US" sz="3600" b="1" dirty="0" smtClean="0"/>
              <a:t>            print("</a:t>
            </a:r>
            <a:r>
              <a:rPr lang="ru-RU" sz="3600" b="1" dirty="0" smtClean="0"/>
              <a:t>Город: " . $</a:t>
            </a:r>
            <a:r>
              <a:rPr lang="en-US" sz="3600" b="1" dirty="0" smtClean="0"/>
              <a:t>row['name'] . "; </a:t>
            </a:r>
            <a:r>
              <a:rPr lang="ru-RU" sz="3600" b="1" dirty="0" smtClean="0"/>
              <a:t>Идентификатор: </a:t>
            </a:r>
            <a:r>
              <a:rPr lang="ru-RU" sz="3600" b="1" dirty="0" smtClean="0"/>
              <a:t>" </a:t>
            </a:r>
            <a:r>
              <a:rPr lang="ru-RU" sz="3600" b="1" dirty="0" smtClean="0"/>
              <a:t>. $</a:t>
            </a:r>
            <a:r>
              <a:rPr lang="en-US" sz="3600" b="1" dirty="0" smtClean="0"/>
              <a:t>row['id'] . "&lt;</a:t>
            </a:r>
            <a:r>
              <a:rPr lang="en-US" sz="3600" b="1" dirty="0" err="1" smtClean="0"/>
              <a:t>br</a:t>
            </a:r>
            <a:r>
              <a:rPr lang="en-US" sz="3600" b="1" dirty="0" smtClean="0"/>
              <a:t>&gt;");    </a:t>
            </a:r>
          </a:p>
          <a:p>
            <a:pPr algn="l"/>
            <a:r>
              <a:rPr lang="en-US" sz="3600" b="1" dirty="0" smtClean="0"/>
              <a:t>        }</a:t>
            </a:r>
          </a:p>
          <a:p>
            <a:pPr algn="l"/>
            <a:r>
              <a:rPr lang="en-US" sz="3600" dirty="0" smtClean="0"/>
              <a:t>    }   </a:t>
            </a:r>
          </a:p>
          <a:p>
            <a:pPr algn="l"/>
            <a:r>
              <a:rPr lang="en-US" sz="3600" dirty="0" smtClean="0"/>
              <a:t>}</a:t>
            </a:r>
          </a:p>
          <a:p>
            <a:pPr algn="l"/>
            <a:r>
              <a:rPr lang="en-US" sz="3600" dirty="0" smtClean="0"/>
              <a:t>?&gt;</a:t>
            </a:r>
            <a:endParaRPr lang="ru-RU" sz="3600" dirty="0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smtClean="0"/>
              <a:t>Источник </a:t>
            </a:r>
            <a:r>
              <a:rPr lang="en-US" smtClean="0"/>
              <a:t>https://htmlacademy.ru/tutorial/php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373121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566928" y="749808"/>
            <a:ext cx="11100816" cy="5669280"/>
          </a:xfrm>
        </p:spPr>
        <p:txBody>
          <a:bodyPr>
            <a:normAutofit/>
          </a:bodyPr>
          <a:lstStyle/>
          <a:p>
            <a:r>
              <a:rPr lang="ru-RU" sz="3600" b="1" dirty="0"/>
              <a:t>Как узнать количество записей</a:t>
            </a:r>
          </a:p>
          <a:p>
            <a:pPr algn="l"/>
            <a:r>
              <a:rPr lang="ru-RU" sz="3600" dirty="0"/>
              <a:t>Часто бывает необходимо узнать, сколько всего записей вернёт выполненный SQL запрос.</a:t>
            </a:r>
          </a:p>
          <a:p>
            <a:pPr algn="l"/>
            <a:r>
              <a:rPr lang="ru-RU" sz="3600" dirty="0"/>
              <a:t>Это может помочь при организации постраничной навигации, или просто в качестве информации.</a:t>
            </a:r>
          </a:p>
          <a:p>
            <a:pPr algn="l"/>
            <a:r>
              <a:rPr lang="ru-RU" sz="3600" dirty="0"/>
              <a:t>Узнать число записей поможет функция </a:t>
            </a:r>
            <a:r>
              <a:rPr lang="ru-RU" sz="3600" b="1" dirty="0" err="1"/>
              <a:t>mysqli_num_rows</a:t>
            </a:r>
            <a:r>
              <a:rPr lang="ru-RU" sz="3600" b="1" dirty="0"/>
              <a:t>()</a:t>
            </a:r>
            <a:r>
              <a:rPr lang="ru-RU" sz="3600" dirty="0"/>
              <a:t>, которой следует передать ссылку на результат запроса.</a:t>
            </a:r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smtClean="0"/>
              <a:t>Источник </a:t>
            </a:r>
            <a:r>
              <a:rPr lang="en-US" smtClean="0"/>
              <a:t>https://htmlacademy.ru/tutorial/php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675858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566928" y="749808"/>
            <a:ext cx="11100816" cy="5669280"/>
          </a:xfrm>
        </p:spPr>
        <p:txBody>
          <a:bodyPr>
            <a:normAutofit fontScale="55000" lnSpcReduction="20000"/>
          </a:bodyPr>
          <a:lstStyle/>
          <a:p>
            <a:pPr algn="l"/>
            <a:r>
              <a:rPr lang="en-US" sz="3600" dirty="0"/>
              <a:t>&lt;?</a:t>
            </a:r>
            <a:r>
              <a:rPr lang="en-US" sz="3600" dirty="0" err="1"/>
              <a:t>php</a:t>
            </a:r>
            <a:endParaRPr lang="en-US" sz="3600" dirty="0"/>
          </a:p>
          <a:p>
            <a:pPr algn="l"/>
            <a:r>
              <a:rPr lang="en-US" sz="3600" dirty="0"/>
              <a:t>$link = </a:t>
            </a:r>
            <a:r>
              <a:rPr lang="en-US" sz="3600" dirty="0" err="1"/>
              <a:t>mysqli_connect</a:t>
            </a:r>
            <a:r>
              <a:rPr lang="en-US" sz="3600" dirty="0"/>
              <a:t>("</a:t>
            </a:r>
            <a:r>
              <a:rPr lang="en-US" sz="3600" dirty="0" err="1"/>
              <a:t>localhost</a:t>
            </a:r>
            <a:r>
              <a:rPr lang="en-US" sz="3600" dirty="0"/>
              <a:t>", "root", "", "</a:t>
            </a:r>
            <a:r>
              <a:rPr lang="en-US" sz="3600" dirty="0" err="1"/>
              <a:t>weather_diary</a:t>
            </a:r>
            <a:r>
              <a:rPr lang="en-US" sz="3600" dirty="0"/>
              <a:t>");</a:t>
            </a:r>
          </a:p>
          <a:p>
            <a:pPr algn="l"/>
            <a:r>
              <a:rPr lang="en-US" sz="3600" dirty="0"/>
              <a:t>if ($link == false){</a:t>
            </a:r>
          </a:p>
          <a:p>
            <a:pPr algn="l"/>
            <a:r>
              <a:rPr lang="en-US" sz="3600" dirty="0"/>
              <a:t>    print("</a:t>
            </a:r>
            <a:r>
              <a:rPr lang="ru-RU" sz="3600" dirty="0"/>
              <a:t>Ошибка: Невозможно подключиться к </a:t>
            </a:r>
            <a:r>
              <a:rPr lang="en-US" sz="3600" dirty="0"/>
              <a:t>MySQL". "&lt;</a:t>
            </a:r>
            <a:r>
              <a:rPr lang="en-US" sz="3600" dirty="0" err="1"/>
              <a:t>br</a:t>
            </a:r>
            <a:r>
              <a:rPr lang="en-US" sz="3600" dirty="0"/>
              <a:t>&gt;" . </a:t>
            </a:r>
            <a:r>
              <a:rPr lang="en-US" sz="3600" dirty="0" err="1"/>
              <a:t>mysqli_connect_error</a:t>
            </a:r>
            <a:r>
              <a:rPr lang="en-US" sz="3600" dirty="0"/>
              <a:t>()."&lt;</a:t>
            </a:r>
            <a:r>
              <a:rPr lang="en-US" sz="3600" dirty="0" err="1"/>
              <a:t>br</a:t>
            </a:r>
            <a:r>
              <a:rPr lang="en-US" sz="3600" dirty="0"/>
              <a:t>&gt;");</a:t>
            </a:r>
          </a:p>
          <a:p>
            <a:pPr algn="l"/>
            <a:r>
              <a:rPr lang="en-US" sz="3600" dirty="0"/>
              <a:t>}</a:t>
            </a:r>
          </a:p>
          <a:p>
            <a:pPr algn="l"/>
            <a:r>
              <a:rPr lang="en-US" sz="3600" dirty="0"/>
              <a:t>else { </a:t>
            </a:r>
          </a:p>
          <a:p>
            <a:pPr algn="l"/>
            <a:r>
              <a:rPr lang="en-US" sz="3600" dirty="0"/>
              <a:t>    $</a:t>
            </a:r>
            <a:r>
              <a:rPr lang="en-US" sz="3600" dirty="0" err="1"/>
              <a:t>sql</a:t>
            </a:r>
            <a:r>
              <a:rPr lang="en-US" sz="3600" dirty="0"/>
              <a:t> = 'SELECT id, name FROM cities';</a:t>
            </a:r>
          </a:p>
          <a:p>
            <a:pPr algn="l"/>
            <a:r>
              <a:rPr lang="en-US" sz="3600" dirty="0"/>
              <a:t>    $result = </a:t>
            </a:r>
            <a:r>
              <a:rPr lang="en-US" sz="3600" dirty="0" err="1"/>
              <a:t>mysqli_query</a:t>
            </a:r>
            <a:r>
              <a:rPr lang="en-US" sz="3600" dirty="0"/>
              <a:t>($link, $</a:t>
            </a:r>
            <a:r>
              <a:rPr lang="en-US" sz="3600" dirty="0" err="1"/>
              <a:t>sql</a:t>
            </a:r>
            <a:r>
              <a:rPr lang="en-US" sz="3600" dirty="0"/>
              <a:t>);    </a:t>
            </a:r>
          </a:p>
          <a:p>
            <a:pPr algn="l"/>
            <a:r>
              <a:rPr lang="en-US" sz="3600" dirty="0"/>
              <a:t>    if ($result == false) {</a:t>
            </a:r>
          </a:p>
          <a:p>
            <a:pPr algn="l"/>
            <a:r>
              <a:rPr lang="en-US" sz="3600" dirty="0"/>
              <a:t>        print("</a:t>
            </a:r>
            <a:r>
              <a:rPr lang="ru-RU" sz="3600" dirty="0"/>
              <a:t>Произошла ошибка при выполнении запроса" . "&lt;</a:t>
            </a:r>
            <a:r>
              <a:rPr lang="en-US" sz="3600" dirty="0" err="1"/>
              <a:t>br</a:t>
            </a:r>
            <a:r>
              <a:rPr lang="en-US" sz="3600" dirty="0"/>
              <a:t>&gt;" . mysqli_error($link) . "&lt;</a:t>
            </a:r>
            <a:r>
              <a:rPr lang="en-US" sz="3600" dirty="0" err="1"/>
              <a:t>br</a:t>
            </a:r>
            <a:r>
              <a:rPr lang="en-US" sz="3600" dirty="0"/>
              <a:t>&gt;");</a:t>
            </a:r>
          </a:p>
          <a:p>
            <a:pPr algn="l"/>
            <a:r>
              <a:rPr lang="en-US" sz="3600" dirty="0"/>
              <a:t>    }</a:t>
            </a:r>
          </a:p>
          <a:p>
            <a:pPr algn="l"/>
            <a:r>
              <a:rPr lang="en-US" sz="3600" dirty="0"/>
              <a:t>    else {</a:t>
            </a:r>
          </a:p>
          <a:p>
            <a:pPr algn="l"/>
            <a:r>
              <a:rPr lang="en-US" sz="3600" b="1" dirty="0"/>
              <a:t>        print("</a:t>
            </a:r>
            <a:r>
              <a:rPr lang="ru-RU" sz="3600" b="1" dirty="0"/>
              <a:t>Количество записей: " . </a:t>
            </a:r>
            <a:r>
              <a:rPr lang="en-US" sz="3600" b="1" dirty="0" err="1"/>
              <a:t>mysqli_num_rows</a:t>
            </a:r>
            <a:r>
              <a:rPr lang="en-US" sz="3600" b="1" dirty="0"/>
              <a:t>($result) . "&lt;</a:t>
            </a:r>
            <a:r>
              <a:rPr lang="en-US" sz="3600" b="1" dirty="0" err="1"/>
              <a:t>br</a:t>
            </a:r>
            <a:r>
              <a:rPr lang="en-US" sz="3600" b="1" dirty="0"/>
              <a:t>&gt;");</a:t>
            </a:r>
          </a:p>
          <a:p>
            <a:pPr algn="l"/>
            <a:r>
              <a:rPr lang="en-US" sz="3600" dirty="0"/>
              <a:t>    }   </a:t>
            </a:r>
          </a:p>
          <a:p>
            <a:pPr algn="l"/>
            <a:r>
              <a:rPr lang="en-US" sz="3600" dirty="0"/>
              <a:t>}</a:t>
            </a:r>
          </a:p>
          <a:p>
            <a:pPr algn="l"/>
            <a:r>
              <a:rPr lang="en-US" sz="3600" dirty="0"/>
              <a:t>?&gt;</a:t>
            </a:r>
            <a:endParaRPr lang="ru-RU" sz="3600" dirty="0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dirty="0" smtClean="0"/>
              <a:t>Источник </a:t>
            </a:r>
            <a:r>
              <a:rPr lang="en-US" dirty="0" smtClean="0"/>
              <a:t>https://htmlacademy.ru/tutorial/php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490885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566928" y="749808"/>
            <a:ext cx="11100816" cy="5669280"/>
          </a:xfrm>
        </p:spPr>
        <p:txBody>
          <a:bodyPr>
            <a:normAutofit/>
          </a:bodyPr>
          <a:lstStyle/>
          <a:p>
            <a:r>
              <a:rPr lang="ru-RU" sz="3600" b="1" dirty="0"/>
              <a:t>Защита от </a:t>
            </a:r>
            <a:r>
              <a:rPr lang="en-US" sz="3600" b="1" dirty="0"/>
              <a:t>SQL </a:t>
            </a:r>
            <a:r>
              <a:rPr lang="ru-RU" sz="3600" b="1" dirty="0"/>
              <a:t>инъекций</a:t>
            </a:r>
          </a:p>
          <a:p>
            <a:pPr algn="l"/>
            <a:r>
              <a:rPr lang="ru-RU" sz="3600" dirty="0"/>
              <a:t>Внедрение SQL-кода (</a:t>
            </a:r>
            <a:r>
              <a:rPr lang="ru-RU" sz="3600" b="1" dirty="0"/>
              <a:t>SQL инъекция</a:t>
            </a:r>
            <a:r>
              <a:rPr lang="ru-RU" sz="3600" dirty="0"/>
              <a:t>) — один из распространённых способов взлома сайтов, работающих с базами данных. Способ основан на внедрении в запрос произвольного SQL-кода</a:t>
            </a:r>
            <a:r>
              <a:rPr lang="ru-RU" sz="3600" dirty="0" smtClean="0"/>
              <a:t>.</a:t>
            </a:r>
            <a:endParaRPr lang="en-US" sz="3600" dirty="0" smtClean="0"/>
          </a:p>
          <a:p>
            <a:pPr algn="l"/>
            <a:r>
              <a:rPr lang="ru-RU" sz="3600" dirty="0" smtClean="0"/>
              <a:t>Внедрение </a:t>
            </a:r>
            <a:r>
              <a:rPr lang="ru-RU" sz="3600" dirty="0"/>
              <a:t>SQL позволяет хакеру выполнить произвольный запрос к базе данных (прочитать содержимое любых таблиц, удалить, изменить или добавить данные).</a:t>
            </a:r>
            <a:endParaRPr lang="ru-RU" sz="3600" dirty="0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smtClean="0"/>
              <a:t>Источник </a:t>
            </a:r>
            <a:r>
              <a:rPr lang="en-US" smtClean="0"/>
              <a:t>https://htmlacademy.ru/tutorial/php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849628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566928" y="749808"/>
            <a:ext cx="11100816" cy="5669280"/>
          </a:xfrm>
        </p:spPr>
        <p:txBody>
          <a:bodyPr>
            <a:normAutofit/>
          </a:bodyPr>
          <a:lstStyle/>
          <a:p>
            <a:r>
              <a:rPr lang="ru-RU" sz="3600" b="1" dirty="0"/>
              <a:t>Принцип атаки внедрения </a:t>
            </a:r>
            <a:r>
              <a:rPr lang="en-US" sz="3600" b="1" dirty="0"/>
              <a:t>SQL</a:t>
            </a:r>
            <a:endParaRPr lang="en-US" sz="3600" b="1" dirty="0" smtClean="0"/>
          </a:p>
          <a:p>
            <a:pPr algn="l"/>
            <a:r>
              <a:rPr lang="ru-RU" sz="3600" dirty="0"/>
              <a:t>Допустим, на нашем сайте есть страница показа истории погодных наблюдений для одного города. Идентификатор этого города передаётся в ссылке в параметре запроса: </a:t>
            </a:r>
            <a:endParaRPr lang="en-US" sz="3600" dirty="0" smtClean="0"/>
          </a:p>
          <a:p>
            <a:pPr algn="l"/>
            <a:r>
              <a:rPr lang="ru-RU" sz="3600" b="1" dirty="0" smtClean="0"/>
              <a:t>/</a:t>
            </a:r>
            <a:r>
              <a:rPr lang="ru-RU" sz="3600" b="1" dirty="0" err="1"/>
              <a:t>weather.php?city_id</a:t>
            </a:r>
            <a:r>
              <a:rPr lang="ru-RU" sz="3600" b="1" dirty="0"/>
              <a:t>=&lt;ID&gt;</a:t>
            </a:r>
            <a:r>
              <a:rPr lang="ru-RU" sz="3600" dirty="0"/>
              <a:t>, </a:t>
            </a:r>
            <a:endParaRPr lang="en-US" sz="3600" dirty="0" smtClean="0"/>
          </a:p>
          <a:p>
            <a:pPr algn="l"/>
            <a:r>
              <a:rPr lang="ru-RU" sz="3600" dirty="0" smtClean="0"/>
              <a:t>где </a:t>
            </a:r>
            <a:r>
              <a:rPr lang="ru-RU" sz="3600" dirty="0"/>
              <a:t>ID— это первичный ключ города</a:t>
            </a:r>
            <a:endParaRPr lang="ru-RU" sz="3600" dirty="0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smtClean="0"/>
              <a:t>Источник </a:t>
            </a:r>
            <a:r>
              <a:rPr lang="en-US" smtClean="0"/>
              <a:t>https://htmlacademy.ru/tutorial/php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690750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566928" y="749808"/>
            <a:ext cx="11100816" cy="5669280"/>
          </a:xfrm>
        </p:spPr>
        <p:txBody>
          <a:bodyPr>
            <a:normAutofit/>
          </a:bodyPr>
          <a:lstStyle/>
          <a:p>
            <a:pPr algn="l"/>
            <a:r>
              <a:rPr lang="ru-RU" sz="3600" dirty="0"/>
              <a:t>В PHP-сценарии используем этот параметр для подстановки в SQL запрос</a:t>
            </a:r>
            <a:r>
              <a:rPr lang="ru-RU" sz="3600" dirty="0" smtClean="0"/>
              <a:t>:</a:t>
            </a:r>
            <a:endParaRPr lang="en-US" sz="3600" dirty="0" smtClean="0"/>
          </a:p>
          <a:p>
            <a:pPr algn="l"/>
            <a:endParaRPr lang="en-US" sz="3600" dirty="0"/>
          </a:p>
          <a:p>
            <a:pPr algn="l"/>
            <a:endParaRPr lang="en-US" sz="3600" dirty="0" smtClean="0"/>
          </a:p>
          <a:p>
            <a:pPr algn="l"/>
            <a:r>
              <a:rPr lang="en-US" dirty="0" smtClean="0"/>
              <a:t>$</a:t>
            </a:r>
            <a:r>
              <a:rPr lang="en-US" dirty="0" err="1"/>
              <a:t>city_id</a:t>
            </a:r>
            <a:r>
              <a:rPr lang="en-US" dirty="0"/>
              <a:t> = $_GET['</a:t>
            </a:r>
            <a:r>
              <a:rPr lang="en-US" dirty="0" err="1"/>
              <a:t>city_id</a:t>
            </a:r>
            <a:r>
              <a:rPr lang="en-US" dirty="0"/>
              <a:t>']; </a:t>
            </a:r>
            <a:endParaRPr lang="en-US" dirty="0" smtClean="0"/>
          </a:p>
          <a:p>
            <a:pPr algn="l"/>
            <a:r>
              <a:rPr lang="en-US" dirty="0" smtClean="0"/>
              <a:t>$</a:t>
            </a:r>
            <a:r>
              <a:rPr lang="en-US" dirty="0"/>
              <a:t>res = </a:t>
            </a:r>
            <a:r>
              <a:rPr lang="en-US" dirty="0" err="1"/>
              <a:t>mysqli_query</a:t>
            </a:r>
            <a:r>
              <a:rPr lang="en-US" dirty="0"/>
              <a:t>($link, "SELECT * FROM </a:t>
            </a:r>
            <a:r>
              <a:rPr lang="en-US" dirty="0" err="1"/>
              <a:t>weather_log</a:t>
            </a:r>
            <a:r>
              <a:rPr lang="en-US" dirty="0"/>
              <a:t> WHERE </a:t>
            </a:r>
            <a:r>
              <a:rPr lang="en-US" dirty="0" err="1"/>
              <a:t>city_id</a:t>
            </a:r>
            <a:r>
              <a:rPr lang="en-US" dirty="0"/>
              <a:t> = " . $</a:t>
            </a:r>
            <a:r>
              <a:rPr lang="en-US" dirty="0" err="1"/>
              <a:t>city_id</a:t>
            </a:r>
            <a:r>
              <a:rPr lang="en-US" dirty="0"/>
              <a:t>);</a:t>
            </a:r>
            <a:endParaRPr lang="en-US" dirty="0"/>
          </a:p>
          <a:p>
            <a:pPr algn="l"/>
            <a:endParaRPr lang="en-US" sz="3600" dirty="0" smtClean="0"/>
          </a:p>
          <a:p>
            <a:pPr algn="l"/>
            <a:endParaRPr lang="en-US" sz="3600" dirty="0"/>
          </a:p>
          <a:p>
            <a:pPr algn="l"/>
            <a:endParaRPr lang="en-US" sz="3600" dirty="0" smtClean="0"/>
          </a:p>
          <a:p>
            <a:pPr algn="l"/>
            <a:endParaRPr lang="ru-RU" sz="3600" dirty="0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smtClean="0"/>
              <a:t>Источник </a:t>
            </a:r>
            <a:r>
              <a:rPr lang="en-US" smtClean="0"/>
              <a:t>https://htmlacademy.ru/tutorial/php</a:t>
            </a:r>
            <a:endParaRPr lang="ru-RU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 rotWithShape="1">
          <a:blip r:embed="rId2"/>
          <a:srcRect l="27914" t="25179" r="15251" b="68166"/>
          <a:stretch/>
        </p:blipFill>
        <p:spPr>
          <a:xfrm>
            <a:off x="396446" y="1921901"/>
            <a:ext cx="11516154" cy="1078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94657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566928" y="749808"/>
            <a:ext cx="11100816" cy="5669280"/>
          </a:xfrm>
        </p:spPr>
        <p:txBody>
          <a:bodyPr>
            <a:normAutofit/>
          </a:bodyPr>
          <a:lstStyle/>
          <a:p>
            <a:pPr algn="l"/>
            <a:r>
              <a:rPr lang="ru-RU" sz="3600" dirty="0"/>
              <a:t>Если на сервере передан параметр </a:t>
            </a:r>
            <a:r>
              <a:rPr lang="en-US" sz="3600" dirty="0" err="1"/>
              <a:t>city_id</a:t>
            </a:r>
            <a:r>
              <a:rPr lang="en-US" sz="3600" dirty="0"/>
              <a:t>, </a:t>
            </a:r>
            <a:r>
              <a:rPr lang="ru-RU" sz="3600" dirty="0"/>
              <a:t>равный 10 (/</a:t>
            </a:r>
            <a:r>
              <a:rPr lang="en-US" sz="3600" dirty="0" err="1"/>
              <a:t>weather.php?city_id</a:t>
            </a:r>
            <a:r>
              <a:rPr lang="en-US" sz="3600" dirty="0"/>
              <a:t>=10), </a:t>
            </a:r>
            <a:r>
              <a:rPr lang="ru-RU" sz="3600" dirty="0"/>
              <a:t>то выполнится </a:t>
            </a:r>
            <a:r>
              <a:rPr lang="en-US" sz="3600" dirty="0"/>
              <a:t>SQL-</a:t>
            </a:r>
            <a:r>
              <a:rPr lang="ru-RU" sz="3600" dirty="0"/>
              <a:t>запрос:</a:t>
            </a:r>
          </a:p>
          <a:p>
            <a:pPr algn="l"/>
            <a:r>
              <a:rPr lang="en-US" sz="3600" b="1" dirty="0" smtClean="0"/>
              <a:t>SELECT </a:t>
            </a:r>
            <a:r>
              <a:rPr lang="en-US" sz="3600" b="1" dirty="0"/>
              <a:t>* FROM </a:t>
            </a:r>
            <a:r>
              <a:rPr lang="en-US" sz="3600" b="1" dirty="0" err="1"/>
              <a:t>weather_log</a:t>
            </a:r>
            <a:r>
              <a:rPr lang="en-US" sz="3600" b="1" dirty="0"/>
              <a:t> WHERE </a:t>
            </a:r>
            <a:r>
              <a:rPr lang="en-US" sz="3600" b="1" dirty="0" err="1"/>
              <a:t>city_id</a:t>
            </a:r>
            <a:r>
              <a:rPr lang="en-US" sz="3600" b="1" dirty="0"/>
              <a:t> = </a:t>
            </a:r>
            <a:r>
              <a:rPr lang="en-US" sz="3600" b="1" dirty="0" smtClean="0"/>
              <a:t>10</a:t>
            </a:r>
          </a:p>
          <a:p>
            <a:pPr algn="l"/>
            <a:r>
              <a:rPr lang="ru-RU" sz="3600" dirty="0" smtClean="0"/>
              <a:t>Но </a:t>
            </a:r>
            <a:r>
              <a:rPr lang="ru-RU" sz="3600" dirty="0"/>
              <a:t>если злоумышленник передаст в качестве параметра </a:t>
            </a:r>
            <a:r>
              <a:rPr lang="en-US" sz="3600" dirty="0"/>
              <a:t>id </a:t>
            </a:r>
            <a:r>
              <a:rPr lang="ru-RU" sz="3600" dirty="0"/>
              <a:t>строку -1 </a:t>
            </a:r>
            <a:r>
              <a:rPr lang="en-US" sz="3600" dirty="0"/>
              <a:t>OR 1=1, </a:t>
            </a:r>
            <a:r>
              <a:rPr lang="ru-RU" sz="3600" dirty="0"/>
              <a:t>то выполнится запрос:</a:t>
            </a:r>
          </a:p>
          <a:p>
            <a:pPr algn="l"/>
            <a:r>
              <a:rPr lang="en-US" sz="3600" b="1" dirty="0" smtClean="0"/>
              <a:t>SELECT </a:t>
            </a:r>
            <a:r>
              <a:rPr lang="en-US" sz="3600" b="1" dirty="0"/>
              <a:t>* FROM </a:t>
            </a:r>
            <a:r>
              <a:rPr lang="en-US" sz="3600" b="1" dirty="0" err="1"/>
              <a:t>weather_log</a:t>
            </a:r>
            <a:r>
              <a:rPr lang="en-US" sz="3600" b="1" dirty="0"/>
              <a:t> WHERE </a:t>
            </a:r>
            <a:r>
              <a:rPr lang="en-US" sz="3600" b="1" dirty="0" err="1"/>
              <a:t>city_id</a:t>
            </a:r>
            <a:r>
              <a:rPr lang="en-US" sz="3600" b="1" dirty="0"/>
              <a:t> = -1 OR 1=1</a:t>
            </a:r>
            <a:endParaRPr lang="ru-RU" sz="3600" b="1" dirty="0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smtClean="0"/>
              <a:t>Источник </a:t>
            </a:r>
            <a:r>
              <a:rPr lang="en-US" smtClean="0"/>
              <a:t>https://htmlacademy.ru/tutorial/php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977899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566928" y="749808"/>
            <a:ext cx="11100816" cy="5669280"/>
          </a:xfrm>
        </p:spPr>
        <p:txBody>
          <a:bodyPr>
            <a:normAutofit/>
          </a:bodyPr>
          <a:lstStyle/>
          <a:p>
            <a:pPr algn="l"/>
            <a:r>
              <a:rPr lang="ru-RU" sz="3600" dirty="0"/>
              <a:t>Добавление во входные параметры конструкций языка SQL (вместо простых значений) изменяет логику выполнения всего SQL запроса!</a:t>
            </a:r>
          </a:p>
          <a:p>
            <a:pPr algn="l"/>
            <a:r>
              <a:rPr lang="ru-RU" sz="3600" dirty="0"/>
              <a:t>В этом примере вместо показа данных по одному городу, будут получены данные по всем городам, потому что выражение 1=1 всегда истинно. </a:t>
            </a:r>
            <a:endParaRPr lang="en-US" sz="3600" dirty="0" smtClean="0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smtClean="0"/>
              <a:t>Источник </a:t>
            </a:r>
            <a:r>
              <a:rPr lang="en-US" smtClean="0"/>
              <a:t>https://htmlacademy.ru/tutorial/php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246100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566928" y="749808"/>
            <a:ext cx="11100816" cy="5669280"/>
          </a:xfrm>
        </p:spPr>
        <p:txBody>
          <a:bodyPr>
            <a:normAutofit/>
          </a:bodyPr>
          <a:lstStyle/>
          <a:p>
            <a:pPr algn="l"/>
            <a:r>
              <a:rPr lang="ru-RU" sz="3600" dirty="0"/>
              <a:t>Вместо выражения SELECT ... могло быть выражение на обновление данных, и тогда последствия были бы ещё серьезнее.</a:t>
            </a:r>
          </a:p>
          <a:p>
            <a:pPr algn="l"/>
            <a:r>
              <a:rPr lang="ru-RU" sz="3600" dirty="0"/>
              <a:t>Отсутствие должной обработки параметров SQL-запроса — это одна из самых серьёзных уязвимостей. Никогда не вставляйте данные от пользователя в SQL запросы «как есть»!</a:t>
            </a:r>
            <a:endParaRPr lang="ru-RU" sz="3600" dirty="0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smtClean="0"/>
              <a:t>Источник </a:t>
            </a:r>
            <a:r>
              <a:rPr lang="en-US" smtClean="0"/>
              <a:t>https://htmlacademy.ru/tutorial/php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069819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566928" y="749808"/>
            <a:ext cx="11100816" cy="5669280"/>
          </a:xfrm>
        </p:spPr>
        <p:txBody>
          <a:bodyPr>
            <a:normAutofit/>
          </a:bodyPr>
          <a:lstStyle/>
          <a:p>
            <a:r>
              <a:rPr lang="ru-RU" sz="3600" b="1" dirty="0"/>
              <a:t>Приведение к целочисленному типу</a:t>
            </a:r>
          </a:p>
          <a:p>
            <a:pPr algn="l"/>
            <a:r>
              <a:rPr lang="ru-RU" sz="3600" dirty="0"/>
              <a:t>В SQL-запросы часто подставляются целочисленные значения, полученные от пользователя. </a:t>
            </a:r>
            <a:endParaRPr lang="en-US" sz="3600" dirty="0" smtClean="0"/>
          </a:p>
          <a:p>
            <a:pPr algn="l"/>
            <a:r>
              <a:rPr lang="ru-RU" sz="3600" dirty="0" smtClean="0"/>
              <a:t>В</a:t>
            </a:r>
            <a:r>
              <a:rPr lang="ru-RU" sz="3600" dirty="0"/>
              <a:t> примерах выше использовался идентификатор города, полученный из параметров запроса. </a:t>
            </a:r>
            <a:endParaRPr lang="en-US" sz="3600" dirty="0" smtClean="0"/>
          </a:p>
          <a:p>
            <a:pPr algn="l"/>
            <a:r>
              <a:rPr lang="ru-RU" sz="3600" dirty="0" smtClean="0"/>
              <a:t>Этот </a:t>
            </a:r>
            <a:r>
              <a:rPr lang="ru-RU" sz="3600" dirty="0"/>
              <a:t>идентификатор можно принудительно привести к числу. </a:t>
            </a:r>
            <a:endParaRPr lang="ru-RU" sz="3600" dirty="0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smtClean="0"/>
              <a:t>Источник </a:t>
            </a:r>
            <a:r>
              <a:rPr lang="en-US" smtClean="0"/>
              <a:t>https://htmlacademy.ru/tutorial/php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896646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566928" y="749808"/>
            <a:ext cx="11100816" cy="5669280"/>
          </a:xfrm>
        </p:spPr>
        <p:txBody>
          <a:bodyPr>
            <a:normAutofit/>
          </a:bodyPr>
          <a:lstStyle/>
          <a:p>
            <a:pPr algn="l"/>
            <a:r>
              <a:rPr lang="ru-RU" sz="3600" dirty="0"/>
              <a:t>Так мы исключим появление в нём опасных выражений. </a:t>
            </a:r>
            <a:endParaRPr lang="en-US" sz="3600" dirty="0" smtClean="0"/>
          </a:p>
          <a:p>
            <a:pPr algn="l"/>
            <a:r>
              <a:rPr lang="ru-RU" sz="3600" dirty="0" smtClean="0"/>
              <a:t>Если </a:t>
            </a:r>
            <a:r>
              <a:rPr lang="ru-RU" sz="3600" dirty="0"/>
              <a:t>хакер передаст в этом параметре вместо числа SQL код, то результатом приведения будет ноль, и логика всего SQL-запроса не изменится</a:t>
            </a:r>
            <a:r>
              <a:rPr lang="ru-RU" sz="3600" dirty="0" smtClean="0"/>
              <a:t>.</a:t>
            </a:r>
            <a:endParaRPr lang="en-US" sz="3600" dirty="0" smtClean="0"/>
          </a:p>
          <a:p>
            <a:pPr algn="l"/>
            <a:endParaRPr lang="ru-RU" sz="3600" dirty="0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smtClean="0"/>
              <a:t>Источник </a:t>
            </a:r>
            <a:r>
              <a:rPr lang="en-US" smtClean="0"/>
              <a:t>https://htmlacademy.ru/tutorial/php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307886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566928" y="749808"/>
            <a:ext cx="11100816" cy="5669280"/>
          </a:xfrm>
        </p:spPr>
        <p:txBody>
          <a:bodyPr>
            <a:normAutofit/>
          </a:bodyPr>
          <a:lstStyle/>
          <a:p>
            <a:pPr algn="l"/>
            <a:r>
              <a:rPr lang="ru-RU" sz="3600" dirty="0"/>
              <a:t>PHP умеет присваивать переменной новый тип. </a:t>
            </a:r>
            <a:endParaRPr lang="en-US" sz="3600" dirty="0" smtClean="0"/>
          </a:p>
          <a:p>
            <a:pPr algn="l"/>
            <a:r>
              <a:rPr lang="ru-RU" sz="3600" dirty="0" smtClean="0"/>
              <a:t>Этот </a:t>
            </a:r>
            <a:r>
              <a:rPr lang="ru-RU" sz="3600" dirty="0"/>
              <a:t>код принудительно назначит переменной целочисленный тип:</a:t>
            </a:r>
          </a:p>
          <a:p>
            <a:pPr algn="l"/>
            <a:r>
              <a:rPr lang="ru-RU" sz="3600" b="1" dirty="0" smtClean="0"/>
              <a:t>$</a:t>
            </a:r>
            <a:r>
              <a:rPr lang="ru-RU" sz="3600" b="1" dirty="0" err="1"/>
              <a:t>city_id</a:t>
            </a:r>
            <a:r>
              <a:rPr lang="ru-RU" sz="3600" b="1" dirty="0"/>
              <a:t> = $_GET['</a:t>
            </a:r>
            <a:r>
              <a:rPr lang="ru-RU" sz="3600" b="1" dirty="0" err="1"/>
              <a:t>city_id</a:t>
            </a:r>
            <a:r>
              <a:rPr lang="ru-RU" sz="3600" b="1" dirty="0"/>
              <a:t>'];</a:t>
            </a:r>
          </a:p>
          <a:p>
            <a:pPr algn="l"/>
            <a:r>
              <a:rPr lang="ru-RU" sz="3600" b="1" dirty="0" err="1" smtClean="0"/>
              <a:t>settype</a:t>
            </a:r>
            <a:r>
              <a:rPr lang="ru-RU" sz="3600" b="1" dirty="0" smtClean="0"/>
              <a:t>($</a:t>
            </a:r>
            <a:r>
              <a:rPr lang="ru-RU" sz="3600" b="1" dirty="0" err="1"/>
              <a:t>city_id</a:t>
            </a:r>
            <a:r>
              <a:rPr lang="ru-RU" sz="3600" b="1" dirty="0"/>
              <a:t>, '</a:t>
            </a:r>
            <a:r>
              <a:rPr lang="ru-RU" sz="3600" b="1" dirty="0" err="1"/>
              <a:t>integer</a:t>
            </a:r>
            <a:r>
              <a:rPr lang="ru-RU" sz="3600" b="1" dirty="0" smtClean="0"/>
              <a:t>');</a:t>
            </a:r>
            <a:endParaRPr lang="en-US" sz="3600" b="1" dirty="0" smtClean="0"/>
          </a:p>
          <a:p>
            <a:pPr algn="l"/>
            <a:r>
              <a:rPr lang="ru-RU" sz="3600" dirty="0"/>
              <a:t>После преобразования переменную $</a:t>
            </a:r>
            <a:r>
              <a:rPr lang="ru-RU" sz="3600" dirty="0" err="1"/>
              <a:t>city_id</a:t>
            </a:r>
            <a:r>
              <a:rPr lang="ru-RU" sz="3600" dirty="0"/>
              <a:t> можно без опаски использовать в SQL-запросах.</a:t>
            </a:r>
            <a:endParaRPr lang="en-US" sz="3600" dirty="0"/>
          </a:p>
          <a:p>
            <a:pPr algn="l"/>
            <a:endParaRPr lang="ru-RU" sz="3600" b="1" dirty="0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smtClean="0"/>
              <a:t>Источник </a:t>
            </a:r>
            <a:r>
              <a:rPr lang="en-US" smtClean="0"/>
              <a:t>https://htmlacademy.ru/tutorial/php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263552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566928" y="749808"/>
            <a:ext cx="11100816" cy="5669280"/>
          </a:xfrm>
        </p:spPr>
        <p:txBody>
          <a:bodyPr>
            <a:normAutofit/>
          </a:bodyPr>
          <a:lstStyle/>
          <a:p>
            <a:r>
              <a:rPr lang="ru-RU" sz="3600" b="1" dirty="0"/>
              <a:t>Экранирование значений</a:t>
            </a:r>
          </a:p>
          <a:p>
            <a:pPr algn="l"/>
            <a:r>
              <a:rPr lang="ru-RU" sz="3600" dirty="0"/>
              <a:t>Что делать, если в SQL запрос требуется подставить строковое значение? </a:t>
            </a:r>
            <a:endParaRPr lang="en-US" sz="3600" dirty="0" smtClean="0"/>
          </a:p>
          <a:p>
            <a:pPr algn="l"/>
            <a:r>
              <a:rPr lang="ru-RU" sz="3600" dirty="0" smtClean="0"/>
              <a:t>Например</a:t>
            </a:r>
            <a:r>
              <a:rPr lang="ru-RU" sz="3600" dirty="0"/>
              <a:t>, на сайте есть возможность поиска города по его названию. </a:t>
            </a:r>
            <a:endParaRPr lang="en-US" sz="3600" dirty="0" smtClean="0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smtClean="0"/>
              <a:t>Источник </a:t>
            </a:r>
            <a:r>
              <a:rPr lang="en-US" smtClean="0"/>
              <a:t>https://htmlacademy.ru/tutorial/php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145251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566928" y="749808"/>
            <a:ext cx="11100816" cy="5669280"/>
          </a:xfrm>
        </p:spPr>
        <p:txBody>
          <a:bodyPr>
            <a:normAutofit/>
          </a:bodyPr>
          <a:lstStyle/>
          <a:p>
            <a:pPr algn="l"/>
            <a:r>
              <a:rPr lang="ru-RU" sz="3600" dirty="0"/>
              <a:t>Форма поиска передаст поисковый запрос в GET-параметр, а мы используем его в SQL-запросе</a:t>
            </a:r>
            <a:r>
              <a:rPr lang="ru-RU" sz="3600" dirty="0" smtClean="0"/>
              <a:t>:</a:t>
            </a:r>
            <a:endParaRPr lang="en-US" sz="3600" dirty="0" smtClean="0"/>
          </a:p>
          <a:p>
            <a:pPr algn="l"/>
            <a:r>
              <a:rPr lang="en-US" sz="3600" b="1" dirty="0"/>
              <a:t>$</a:t>
            </a:r>
            <a:r>
              <a:rPr lang="en-US" sz="3600" b="1" dirty="0" err="1"/>
              <a:t>city_name</a:t>
            </a:r>
            <a:r>
              <a:rPr lang="en-US" sz="3600" b="1" dirty="0"/>
              <a:t> = $_GET['search']; </a:t>
            </a:r>
            <a:endParaRPr lang="en-US" sz="3600" b="1" dirty="0" smtClean="0"/>
          </a:p>
          <a:p>
            <a:pPr algn="l"/>
            <a:r>
              <a:rPr lang="en-US" sz="3600" b="1" dirty="0" smtClean="0"/>
              <a:t>$</a:t>
            </a:r>
            <a:r>
              <a:rPr lang="en-US" sz="3600" b="1" dirty="0" err="1"/>
              <a:t>sql</a:t>
            </a:r>
            <a:r>
              <a:rPr lang="en-US" sz="3600" b="1" dirty="0"/>
              <a:t> = "SELECT * FROM cities WHERE name LIKE('%$</a:t>
            </a:r>
            <a:r>
              <a:rPr lang="en-US" sz="3600" b="1" dirty="0" err="1"/>
              <a:t>city_name</a:t>
            </a:r>
            <a:r>
              <a:rPr lang="en-US" sz="3600" b="1" dirty="0"/>
              <a:t>%')";</a:t>
            </a:r>
            <a:endParaRPr lang="ru-RU" sz="3600" b="1" dirty="0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smtClean="0"/>
              <a:t>Источник </a:t>
            </a:r>
            <a:r>
              <a:rPr lang="en-US" smtClean="0"/>
              <a:t>https://htmlacademy.ru/tutorial/php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589764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566928" y="749808"/>
            <a:ext cx="11100816" cy="5669280"/>
          </a:xfrm>
        </p:spPr>
        <p:txBody>
          <a:bodyPr>
            <a:normAutofit/>
          </a:bodyPr>
          <a:lstStyle/>
          <a:p>
            <a:pPr algn="l"/>
            <a:r>
              <a:rPr lang="ru-RU" sz="3600" dirty="0"/>
              <a:t>Но если в параметре </a:t>
            </a:r>
            <a:r>
              <a:rPr lang="ru-RU" sz="3600" dirty="0" err="1"/>
              <a:t>city_name</a:t>
            </a:r>
            <a:r>
              <a:rPr lang="ru-RU" sz="3600" dirty="0"/>
              <a:t> будет символ кавычки, то смысл запроса можно кардинально изменить. Передав в </a:t>
            </a:r>
            <a:r>
              <a:rPr lang="ru-RU" sz="3600" dirty="0" err="1"/>
              <a:t>search_text</a:t>
            </a:r>
            <a:r>
              <a:rPr lang="ru-RU" sz="3600" dirty="0"/>
              <a:t> значение </a:t>
            </a:r>
            <a:r>
              <a:rPr lang="ru-RU" sz="3600" b="1" dirty="0"/>
              <a:t>')+</a:t>
            </a:r>
            <a:r>
              <a:rPr lang="ru-RU" sz="3600" b="1" dirty="0" err="1"/>
              <a:t>and</a:t>
            </a:r>
            <a:r>
              <a:rPr lang="ru-RU" sz="3600" b="1" dirty="0"/>
              <a:t>+(</a:t>
            </a:r>
            <a:r>
              <a:rPr lang="ru-RU" sz="3600" b="1" dirty="0" err="1"/>
              <a:t>id</a:t>
            </a:r>
            <a:r>
              <a:rPr lang="ru-RU" sz="3600" b="1" dirty="0"/>
              <a:t>&lt;&gt;'0</a:t>
            </a:r>
            <a:r>
              <a:rPr lang="ru-RU" sz="3600" dirty="0"/>
              <a:t>, мы выполним запрос, что выведет список всех городов:</a:t>
            </a:r>
          </a:p>
          <a:p>
            <a:pPr algn="l"/>
            <a:endParaRPr lang="ru-RU" sz="3600" dirty="0"/>
          </a:p>
          <a:p>
            <a:pPr algn="l"/>
            <a:r>
              <a:rPr lang="ru-RU" sz="3600" b="1" dirty="0"/>
              <a:t>SELECT * FROM </a:t>
            </a:r>
            <a:r>
              <a:rPr lang="ru-RU" sz="3600" b="1" dirty="0" err="1"/>
              <a:t>cities</a:t>
            </a:r>
            <a:r>
              <a:rPr lang="ru-RU" sz="3600" b="1" dirty="0"/>
              <a:t> WHERE </a:t>
            </a:r>
            <a:r>
              <a:rPr lang="ru-RU" sz="3600" b="1" dirty="0" err="1"/>
              <a:t>name</a:t>
            </a:r>
            <a:r>
              <a:rPr lang="ru-RU" sz="3600" b="1" dirty="0"/>
              <a:t> LIKE('%') AND (</a:t>
            </a:r>
            <a:r>
              <a:rPr lang="ru-RU" sz="3600" b="1" dirty="0" err="1"/>
              <a:t>id</a:t>
            </a:r>
            <a:r>
              <a:rPr lang="ru-RU" sz="3600" b="1" dirty="0"/>
              <a:t>&lt;&gt;'0%'))</a:t>
            </a:r>
            <a:endParaRPr lang="ru-RU" sz="3600" b="1" dirty="0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smtClean="0"/>
              <a:t>Источник </a:t>
            </a:r>
            <a:r>
              <a:rPr lang="en-US" smtClean="0"/>
              <a:t>https://htmlacademy.ru/tutorial/php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394983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566928" y="749808"/>
            <a:ext cx="11100816" cy="5669280"/>
          </a:xfrm>
        </p:spPr>
        <p:txBody>
          <a:bodyPr>
            <a:normAutofit/>
          </a:bodyPr>
          <a:lstStyle/>
          <a:p>
            <a:pPr algn="l"/>
            <a:r>
              <a:rPr lang="ru-RU" sz="3600" dirty="0"/>
              <a:t>Смысл запроса поменялся, потому что кавычка из параметра запроса считается управляющим символом: </a:t>
            </a:r>
            <a:r>
              <a:rPr lang="ru-RU" sz="3600" dirty="0" err="1"/>
              <a:t>MySQL</a:t>
            </a:r>
            <a:r>
              <a:rPr lang="ru-RU" sz="3600" dirty="0"/>
              <a:t> определяет окончание значение по символу кавычки после него, поэтому сами значения кавычки содержать не должны.</a:t>
            </a:r>
            <a:endParaRPr lang="ru-RU" sz="3600" dirty="0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smtClean="0"/>
              <a:t>Источник </a:t>
            </a:r>
            <a:r>
              <a:rPr lang="en-US" smtClean="0"/>
              <a:t>https://htmlacademy.ru/tutorial/php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187660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566928" y="749808"/>
            <a:ext cx="11100816" cy="5669280"/>
          </a:xfrm>
        </p:spPr>
        <p:txBody>
          <a:bodyPr>
            <a:normAutofit/>
          </a:bodyPr>
          <a:lstStyle/>
          <a:p>
            <a:pPr algn="l"/>
            <a:r>
              <a:rPr lang="ru-RU" sz="3600" dirty="0"/>
              <a:t>Очевидно, приведение к числовому типу не подходит для строковых значений. </a:t>
            </a:r>
            <a:endParaRPr lang="en-US" sz="3600" dirty="0" smtClean="0"/>
          </a:p>
          <a:p>
            <a:pPr algn="l"/>
            <a:r>
              <a:rPr lang="ru-RU" sz="3600" dirty="0" smtClean="0"/>
              <a:t>Поэтому</a:t>
            </a:r>
            <a:r>
              <a:rPr lang="ru-RU" sz="3600" dirty="0"/>
              <a:t>, чтобы обезопасить строковое значение, используют операцию </a:t>
            </a:r>
            <a:r>
              <a:rPr lang="ru-RU" sz="3600" b="1" dirty="0"/>
              <a:t>экранирования</a:t>
            </a:r>
            <a:r>
              <a:rPr lang="ru-RU" sz="3600" dirty="0"/>
              <a:t>.</a:t>
            </a:r>
          </a:p>
          <a:p>
            <a:pPr algn="l"/>
            <a:r>
              <a:rPr lang="ru-RU" sz="3600" b="1" dirty="0" smtClean="0"/>
              <a:t>Экранирование</a:t>
            </a:r>
            <a:r>
              <a:rPr lang="ru-RU" sz="3600" dirty="0" smtClean="0"/>
              <a:t> </a:t>
            </a:r>
            <a:r>
              <a:rPr lang="ru-RU" sz="3600" dirty="0"/>
              <a:t>добавляет в строке перед кавычками (и другими спецсимволами) знак обратного </a:t>
            </a:r>
            <a:r>
              <a:rPr lang="ru-RU" sz="3600" dirty="0" err="1"/>
              <a:t>слэша</a:t>
            </a:r>
            <a:r>
              <a:rPr lang="ru-RU" sz="3600" dirty="0"/>
              <a:t> \.</a:t>
            </a:r>
          </a:p>
          <a:p>
            <a:pPr algn="l"/>
            <a:r>
              <a:rPr lang="ru-RU" sz="3600" dirty="0"/>
              <a:t>Такая обработка лишает кавычки их статуса — они больше не определяют конец значения и не могут повлиять на логику SQL-выражения.</a:t>
            </a:r>
            <a:endParaRPr lang="ru-RU" sz="3600" dirty="0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smtClean="0"/>
              <a:t>Источник </a:t>
            </a:r>
            <a:r>
              <a:rPr lang="en-US" smtClean="0"/>
              <a:t>https://htmlacademy.ru/tutorial/php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535155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566928" y="749808"/>
            <a:ext cx="11100816" cy="5669280"/>
          </a:xfrm>
        </p:spPr>
        <p:txBody>
          <a:bodyPr>
            <a:normAutofit/>
          </a:bodyPr>
          <a:lstStyle/>
          <a:p>
            <a:pPr algn="l"/>
            <a:r>
              <a:rPr lang="ru-RU" sz="3600" dirty="0"/>
              <a:t>За экранирование значений отвечает функция </a:t>
            </a:r>
            <a:r>
              <a:rPr lang="en-US" sz="3600" b="1" dirty="0" err="1"/>
              <a:t>mysqli_real_escape_string</a:t>
            </a:r>
            <a:r>
              <a:rPr lang="en-US" sz="3600" b="1" dirty="0"/>
              <a:t>()</a:t>
            </a:r>
            <a:r>
              <a:rPr lang="en-US" sz="3600" dirty="0"/>
              <a:t>.</a:t>
            </a:r>
          </a:p>
          <a:p>
            <a:pPr algn="l"/>
            <a:r>
              <a:rPr lang="ru-RU" sz="3600" dirty="0"/>
              <a:t>Этот код обработает значение из параметра, сделав его безопасным для использования в запросе</a:t>
            </a:r>
            <a:r>
              <a:rPr lang="ru-RU" sz="3600" dirty="0" smtClean="0"/>
              <a:t>:</a:t>
            </a:r>
            <a:endParaRPr lang="ru-RU" sz="3600" dirty="0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smtClean="0"/>
              <a:t>Источник </a:t>
            </a:r>
            <a:r>
              <a:rPr lang="en-US" smtClean="0"/>
              <a:t>https://htmlacademy.ru/tutorial/php</a:t>
            </a:r>
            <a:endParaRPr lang="ru-RU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 rotWithShape="1">
          <a:blip r:embed="rId2"/>
          <a:srcRect l="28332" t="54512" r="29394" b="39110"/>
          <a:stretch/>
        </p:blipFill>
        <p:spPr>
          <a:xfrm>
            <a:off x="566929" y="2920666"/>
            <a:ext cx="11472672" cy="1384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88756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545592" y="2273808"/>
            <a:ext cx="11100816" cy="2425192"/>
          </a:xfrm>
        </p:spPr>
        <p:txBody>
          <a:bodyPr>
            <a:normAutofit/>
          </a:bodyPr>
          <a:lstStyle/>
          <a:p>
            <a:pPr algn="l"/>
            <a:r>
              <a:rPr lang="ru-RU" sz="3600" b="1" dirty="0"/>
              <a:t>$</a:t>
            </a:r>
            <a:r>
              <a:rPr lang="en-US" sz="3600" b="1" dirty="0" err="1"/>
              <a:t>city_name</a:t>
            </a:r>
            <a:r>
              <a:rPr lang="en-US" sz="3600" b="1" dirty="0"/>
              <a:t> = </a:t>
            </a:r>
            <a:r>
              <a:rPr lang="en-US" sz="3600" b="1" dirty="0" err="1"/>
              <a:t>mysqli_real_escape_string</a:t>
            </a:r>
            <a:r>
              <a:rPr lang="en-US" sz="3600" b="1" dirty="0"/>
              <a:t>($link, $_GET['search']);</a:t>
            </a:r>
          </a:p>
          <a:p>
            <a:pPr algn="l"/>
            <a:r>
              <a:rPr lang="en-US" sz="3600" b="1" dirty="0"/>
              <a:t>$</a:t>
            </a:r>
            <a:r>
              <a:rPr lang="en-US" sz="3600" b="1" dirty="0" err="1"/>
              <a:t>sql</a:t>
            </a:r>
            <a:r>
              <a:rPr lang="en-US" sz="3600" b="1" dirty="0"/>
              <a:t> = "SELECT * FROM cities WHERE name LIKE('%$</a:t>
            </a:r>
            <a:r>
              <a:rPr lang="en-US" sz="3600" b="1" dirty="0" err="1"/>
              <a:t>city_name</a:t>
            </a:r>
            <a:r>
              <a:rPr lang="en-US" sz="3600" b="1" dirty="0"/>
              <a:t>%')";</a:t>
            </a:r>
            <a:endParaRPr lang="ru-RU" sz="3600" b="1" dirty="0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smtClean="0"/>
              <a:t>Источник </a:t>
            </a:r>
            <a:r>
              <a:rPr lang="en-US" smtClean="0"/>
              <a:t>https://htmlacademy.ru/tutorial/php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688604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614553" y="3026283"/>
            <a:ext cx="11100816" cy="812292"/>
          </a:xfrm>
        </p:spPr>
        <p:txBody>
          <a:bodyPr>
            <a:normAutofit/>
          </a:bodyPr>
          <a:lstStyle/>
          <a:p>
            <a:r>
              <a:rPr lang="ru-RU" sz="4800" b="1" dirty="0" smtClean="0"/>
              <a:t>Спасибо за внимание!</a:t>
            </a:r>
            <a:endParaRPr lang="ru-RU" sz="4800" b="1" dirty="0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smtClean="0"/>
              <a:t>Источник </a:t>
            </a:r>
            <a:r>
              <a:rPr lang="en-US" smtClean="0"/>
              <a:t>https://htmlacademy.ru/tutorial/php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686772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537</TotalTime>
  <Words>2231</Words>
  <Application>Microsoft Office PowerPoint</Application>
  <PresentationFormat>Широкоэкранный</PresentationFormat>
  <Paragraphs>438</Paragraphs>
  <Slides>95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95</vt:i4>
      </vt:variant>
    </vt:vector>
  </HeadingPairs>
  <TitlesOfParts>
    <vt:vector size="99" baseType="lpstr">
      <vt:lpstr>Arial</vt:lpstr>
      <vt:lpstr>Calibri</vt:lpstr>
      <vt:lpstr>Calibri Light</vt:lpstr>
      <vt:lpstr>Тема Office</vt:lpstr>
      <vt:lpstr>Язык PHP. OpenServer. MySQL.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Язык PHP. OpenServer. MySQL</dc:title>
  <dc:creator>Петров</dc:creator>
  <cp:lastModifiedBy>ПетровДА</cp:lastModifiedBy>
  <cp:revision>131</cp:revision>
  <dcterms:created xsi:type="dcterms:W3CDTF">2022-11-02T09:30:38Z</dcterms:created>
  <dcterms:modified xsi:type="dcterms:W3CDTF">2022-12-05T14:16:06Z</dcterms:modified>
</cp:coreProperties>
</file>